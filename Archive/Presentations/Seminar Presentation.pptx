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6" r:id="rId5"/>
    <p:sldId id="257" r:id="rId6"/>
    <p:sldId id="258" r:id="rId7"/>
    <p:sldId id="260" r:id="rId8"/>
    <p:sldId id="262" r:id="rId9"/>
    <p:sldId id="261" r:id="rId10"/>
    <p:sldId id="263" r:id="rId11"/>
    <p:sldId id="264" r:id="rId12"/>
    <p:sldId id="266" r:id="rId13"/>
    <p:sldId id="270" r:id="rId14"/>
    <p:sldId id="269" r:id="rId15"/>
    <p:sldId id="265" r:id="rId16"/>
    <p:sldId id="268" r:id="rId17"/>
    <p:sldId id="267" r:id="rId18"/>
    <p:sldId id="271" r:id="rId19"/>
    <p:sldId id="272"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15972B-D110-4186-8482-F529D97609B8}" v="418" dt="2024-10-17T18:10:18.501"/>
    <p1510:client id="{EF5B1BF9-E5F5-475E-A499-DDA455EA6523}" v="3630" dt="2024-10-18T04:18:01.2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879D11-C3DC-41B1-89C4-7A0007F5C0DD}" type="doc">
      <dgm:prSet loTypeId="urn:microsoft.com/office/officeart/2005/8/layout/vProcess5" loCatId="process" qsTypeId="urn:microsoft.com/office/officeart/2005/8/quickstyle/simple1" qsCatId="simple" csTypeId="urn:microsoft.com/office/officeart/2005/8/colors/colorful1" csCatId="colorful" phldr="1"/>
      <dgm:spPr/>
    </dgm:pt>
    <dgm:pt modelId="{90B2FA12-BB58-4A1E-8241-98A5C5B64292}">
      <dgm:prSet phldrT="[Text]"/>
      <dgm:spPr/>
      <dgm:t>
        <a:bodyPr/>
        <a:lstStyle/>
        <a:p>
          <a:r>
            <a:rPr lang="en-AU"/>
            <a:t>Initial parameters are generated based on existing literature</a:t>
          </a:r>
        </a:p>
      </dgm:t>
    </dgm:pt>
    <dgm:pt modelId="{ED96392C-2286-41CE-A2BF-D77B2FC2D368}" type="parTrans" cxnId="{BE7AA970-4C62-4B55-AD26-74517142CFE0}">
      <dgm:prSet/>
      <dgm:spPr/>
      <dgm:t>
        <a:bodyPr/>
        <a:lstStyle/>
        <a:p>
          <a:endParaRPr lang="en-AU"/>
        </a:p>
      </dgm:t>
    </dgm:pt>
    <dgm:pt modelId="{B0B2085E-EB77-4008-A976-4796C6924A9D}" type="sibTrans" cxnId="{BE7AA970-4C62-4B55-AD26-74517142CFE0}">
      <dgm:prSet/>
      <dgm:spPr/>
      <dgm:t>
        <a:bodyPr/>
        <a:lstStyle/>
        <a:p>
          <a:endParaRPr lang="en-AU"/>
        </a:p>
      </dgm:t>
    </dgm:pt>
    <dgm:pt modelId="{9DBE0BC8-2598-4DE1-9C76-ACE0AAD5112F}">
      <dgm:prSet phldrT="[Text]"/>
      <dgm:spPr/>
      <dgm:t>
        <a:bodyPr/>
        <a:lstStyle/>
        <a:p>
          <a:r>
            <a:rPr lang="en-AU"/>
            <a:t>Parameters on both BOLT and RVR are adjusted simultaneously and independently</a:t>
          </a:r>
        </a:p>
      </dgm:t>
    </dgm:pt>
    <dgm:pt modelId="{B68239E4-5B2C-4394-9CB7-E25482930425}" type="parTrans" cxnId="{F2EA060B-CE49-4E85-8E64-58501665C374}">
      <dgm:prSet/>
      <dgm:spPr/>
      <dgm:t>
        <a:bodyPr/>
        <a:lstStyle/>
        <a:p>
          <a:endParaRPr lang="en-AU"/>
        </a:p>
      </dgm:t>
    </dgm:pt>
    <dgm:pt modelId="{1653AF60-8D72-4778-B31D-0DB65E8F4203}" type="sibTrans" cxnId="{F2EA060B-CE49-4E85-8E64-58501665C374}">
      <dgm:prSet/>
      <dgm:spPr/>
      <dgm:t>
        <a:bodyPr/>
        <a:lstStyle/>
        <a:p>
          <a:endParaRPr lang="en-AU"/>
        </a:p>
      </dgm:t>
    </dgm:pt>
    <dgm:pt modelId="{11497434-916B-4EBF-8A40-69A8E98052B9}">
      <dgm:prSet phldrT="[Text]"/>
      <dgm:spPr/>
      <dgm:t>
        <a:bodyPr/>
        <a:lstStyle/>
        <a:p>
          <a:r>
            <a:rPr lang="en-AU"/>
            <a:t>Emergent behaviour is produced and data is collected through VICON</a:t>
          </a:r>
        </a:p>
      </dgm:t>
    </dgm:pt>
    <dgm:pt modelId="{656929F6-0EB1-4D9C-B9D4-6B772EE86A48}" type="parTrans" cxnId="{BFF74DA5-2C52-44E1-B08F-D7F90FA46251}">
      <dgm:prSet/>
      <dgm:spPr/>
      <dgm:t>
        <a:bodyPr/>
        <a:lstStyle/>
        <a:p>
          <a:endParaRPr lang="en-AU"/>
        </a:p>
      </dgm:t>
    </dgm:pt>
    <dgm:pt modelId="{6BD5C4A3-BADD-4FE0-ACA0-78C2420D0F57}" type="sibTrans" cxnId="{BFF74DA5-2C52-44E1-B08F-D7F90FA46251}">
      <dgm:prSet/>
      <dgm:spPr/>
      <dgm:t>
        <a:bodyPr/>
        <a:lstStyle/>
        <a:p>
          <a:endParaRPr lang="en-AU"/>
        </a:p>
      </dgm:t>
    </dgm:pt>
    <dgm:pt modelId="{38E04B71-E3F5-496B-B640-61E8536392C2}" type="pres">
      <dgm:prSet presAssocID="{80879D11-C3DC-41B1-89C4-7A0007F5C0DD}" presName="outerComposite" presStyleCnt="0">
        <dgm:presLayoutVars>
          <dgm:chMax val="5"/>
          <dgm:dir/>
          <dgm:resizeHandles val="exact"/>
        </dgm:presLayoutVars>
      </dgm:prSet>
      <dgm:spPr/>
    </dgm:pt>
    <dgm:pt modelId="{D6D50FDC-76FF-4032-8E88-CD62989DF4C0}" type="pres">
      <dgm:prSet presAssocID="{80879D11-C3DC-41B1-89C4-7A0007F5C0DD}" presName="dummyMaxCanvas" presStyleCnt="0">
        <dgm:presLayoutVars/>
      </dgm:prSet>
      <dgm:spPr/>
    </dgm:pt>
    <dgm:pt modelId="{FD2C4B40-81EB-4C44-BD70-3284A13D61C0}" type="pres">
      <dgm:prSet presAssocID="{80879D11-C3DC-41B1-89C4-7A0007F5C0DD}" presName="ThreeNodes_1" presStyleLbl="node1" presStyleIdx="0" presStyleCnt="3">
        <dgm:presLayoutVars>
          <dgm:bulletEnabled val="1"/>
        </dgm:presLayoutVars>
      </dgm:prSet>
      <dgm:spPr/>
    </dgm:pt>
    <dgm:pt modelId="{FFC8DD76-FDDD-4131-9E4C-C151617014D7}" type="pres">
      <dgm:prSet presAssocID="{80879D11-C3DC-41B1-89C4-7A0007F5C0DD}" presName="ThreeNodes_2" presStyleLbl="node1" presStyleIdx="1" presStyleCnt="3">
        <dgm:presLayoutVars>
          <dgm:bulletEnabled val="1"/>
        </dgm:presLayoutVars>
      </dgm:prSet>
      <dgm:spPr/>
    </dgm:pt>
    <dgm:pt modelId="{317A2ED5-8837-4046-9369-AED1AD225CD9}" type="pres">
      <dgm:prSet presAssocID="{80879D11-C3DC-41B1-89C4-7A0007F5C0DD}" presName="ThreeNodes_3" presStyleLbl="node1" presStyleIdx="2" presStyleCnt="3">
        <dgm:presLayoutVars>
          <dgm:bulletEnabled val="1"/>
        </dgm:presLayoutVars>
      </dgm:prSet>
      <dgm:spPr/>
    </dgm:pt>
    <dgm:pt modelId="{D45F1531-4DA7-4450-9480-307462BC2A6B}" type="pres">
      <dgm:prSet presAssocID="{80879D11-C3DC-41B1-89C4-7A0007F5C0DD}" presName="ThreeConn_1-2" presStyleLbl="fgAccFollowNode1" presStyleIdx="0" presStyleCnt="2">
        <dgm:presLayoutVars>
          <dgm:bulletEnabled val="1"/>
        </dgm:presLayoutVars>
      </dgm:prSet>
      <dgm:spPr/>
    </dgm:pt>
    <dgm:pt modelId="{E6FF2E22-CFA8-4410-8E90-0A0E83C7FF5D}" type="pres">
      <dgm:prSet presAssocID="{80879D11-C3DC-41B1-89C4-7A0007F5C0DD}" presName="ThreeConn_2-3" presStyleLbl="fgAccFollowNode1" presStyleIdx="1" presStyleCnt="2">
        <dgm:presLayoutVars>
          <dgm:bulletEnabled val="1"/>
        </dgm:presLayoutVars>
      </dgm:prSet>
      <dgm:spPr/>
    </dgm:pt>
    <dgm:pt modelId="{376579DE-5418-46B1-9350-7063F52EBE85}" type="pres">
      <dgm:prSet presAssocID="{80879D11-C3DC-41B1-89C4-7A0007F5C0DD}" presName="ThreeNodes_1_text" presStyleLbl="node1" presStyleIdx="2" presStyleCnt="3">
        <dgm:presLayoutVars>
          <dgm:bulletEnabled val="1"/>
        </dgm:presLayoutVars>
      </dgm:prSet>
      <dgm:spPr/>
    </dgm:pt>
    <dgm:pt modelId="{2856EFDE-3CB4-4166-85A2-EFD475ACDEE0}" type="pres">
      <dgm:prSet presAssocID="{80879D11-C3DC-41B1-89C4-7A0007F5C0DD}" presName="ThreeNodes_2_text" presStyleLbl="node1" presStyleIdx="2" presStyleCnt="3">
        <dgm:presLayoutVars>
          <dgm:bulletEnabled val="1"/>
        </dgm:presLayoutVars>
      </dgm:prSet>
      <dgm:spPr/>
    </dgm:pt>
    <dgm:pt modelId="{741B31F8-F882-4877-BD73-76192D4D3BAE}" type="pres">
      <dgm:prSet presAssocID="{80879D11-C3DC-41B1-89C4-7A0007F5C0DD}" presName="ThreeNodes_3_text" presStyleLbl="node1" presStyleIdx="2" presStyleCnt="3">
        <dgm:presLayoutVars>
          <dgm:bulletEnabled val="1"/>
        </dgm:presLayoutVars>
      </dgm:prSet>
      <dgm:spPr/>
    </dgm:pt>
  </dgm:ptLst>
  <dgm:cxnLst>
    <dgm:cxn modelId="{F2EA060B-CE49-4E85-8E64-58501665C374}" srcId="{80879D11-C3DC-41B1-89C4-7A0007F5C0DD}" destId="{9DBE0BC8-2598-4DE1-9C76-ACE0AAD5112F}" srcOrd="1" destOrd="0" parTransId="{B68239E4-5B2C-4394-9CB7-E25482930425}" sibTransId="{1653AF60-8D72-4778-B31D-0DB65E8F4203}"/>
    <dgm:cxn modelId="{E1800543-AF3A-4ECF-A97C-E2843D5F662E}" type="presOf" srcId="{90B2FA12-BB58-4A1E-8241-98A5C5B64292}" destId="{376579DE-5418-46B1-9350-7063F52EBE85}" srcOrd="1" destOrd="0" presId="urn:microsoft.com/office/officeart/2005/8/layout/vProcess5"/>
    <dgm:cxn modelId="{AAF7DB6E-52A2-4F91-A3F9-76BF1867CA4E}" type="presOf" srcId="{B0B2085E-EB77-4008-A976-4796C6924A9D}" destId="{D45F1531-4DA7-4450-9480-307462BC2A6B}" srcOrd="0" destOrd="0" presId="urn:microsoft.com/office/officeart/2005/8/layout/vProcess5"/>
    <dgm:cxn modelId="{BE7AA970-4C62-4B55-AD26-74517142CFE0}" srcId="{80879D11-C3DC-41B1-89C4-7A0007F5C0DD}" destId="{90B2FA12-BB58-4A1E-8241-98A5C5B64292}" srcOrd="0" destOrd="0" parTransId="{ED96392C-2286-41CE-A2BF-D77B2FC2D368}" sibTransId="{B0B2085E-EB77-4008-A976-4796C6924A9D}"/>
    <dgm:cxn modelId="{B25E7159-A698-4263-8304-C5EB7A3D4DC1}" type="presOf" srcId="{90B2FA12-BB58-4A1E-8241-98A5C5B64292}" destId="{FD2C4B40-81EB-4C44-BD70-3284A13D61C0}" srcOrd="0" destOrd="0" presId="urn:microsoft.com/office/officeart/2005/8/layout/vProcess5"/>
    <dgm:cxn modelId="{ABA46599-869E-4A4A-B4EB-D4731CB3BD20}" type="presOf" srcId="{9DBE0BC8-2598-4DE1-9C76-ACE0AAD5112F}" destId="{FFC8DD76-FDDD-4131-9E4C-C151617014D7}" srcOrd="0" destOrd="0" presId="urn:microsoft.com/office/officeart/2005/8/layout/vProcess5"/>
    <dgm:cxn modelId="{BFF74DA5-2C52-44E1-B08F-D7F90FA46251}" srcId="{80879D11-C3DC-41B1-89C4-7A0007F5C0DD}" destId="{11497434-916B-4EBF-8A40-69A8E98052B9}" srcOrd="2" destOrd="0" parTransId="{656929F6-0EB1-4D9C-B9D4-6B772EE86A48}" sibTransId="{6BD5C4A3-BADD-4FE0-ACA0-78C2420D0F57}"/>
    <dgm:cxn modelId="{62BF0CBF-60E3-47FF-BE71-9B8043AD53E1}" type="presOf" srcId="{9DBE0BC8-2598-4DE1-9C76-ACE0AAD5112F}" destId="{2856EFDE-3CB4-4166-85A2-EFD475ACDEE0}" srcOrd="1" destOrd="0" presId="urn:microsoft.com/office/officeart/2005/8/layout/vProcess5"/>
    <dgm:cxn modelId="{F73A97C5-8E0E-4258-9E25-CC7A842AFEA7}" type="presOf" srcId="{11497434-916B-4EBF-8A40-69A8E98052B9}" destId="{741B31F8-F882-4877-BD73-76192D4D3BAE}" srcOrd="1" destOrd="0" presId="urn:microsoft.com/office/officeart/2005/8/layout/vProcess5"/>
    <dgm:cxn modelId="{6636B0E6-00A9-420D-B945-85504204CD72}" type="presOf" srcId="{1653AF60-8D72-4778-B31D-0DB65E8F4203}" destId="{E6FF2E22-CFA8-4410-8E90-0A0E83C7FF5D}" srcOrd="0" destOrd="0" presId="urn:microsoft.com/office/officeart/2005/8/layout/vProcess5"/>
    <dgm:cxn modelId="{F0776DF4-FF5B-47E3-837D-D24BC5186416}" type="presOf" srcId="{80879D11-C3DC-41B1-89C4-7A0007F5C0DD}" destId="{38E04B71-E3F5-496B-B640-61E8536392C2}" srcOrd="0" destOrd="0" presId="urn:microsoft.com/office/officeart/2005/8/layout/vProcess5"/>
    <dgm:cxn modelId="{44E5A2FE-4BE0-4043-9F6D-8D9A0E16FED6}" type="presOf" srcId="{11497434-916B-4EBF-8A40-69A8E98052B9}" destId="{317A2ED5-8837-4046-9369-AED1AD225CD9}" srcOrd="0" destOrd="0" presId="urn:microsoft.com/office/officeart/2005/8/layout/vProcess5"/>
    <dgm:cxn modelId="{2F750E37-566F-430E-A268-41270B79B6A5}" type="presParOf" srcId="{38E04B71-E3F5-496B-B640-61E8536392C2}" destId="{D6D50FDC-76FF-4032-8E88-CD62989DF4C0}" srcOrd="0" destOrd="0" presId="urn:microsoft.com/office/officeart/2005/8/layout/vProcess5"/>
    <dgm:cxn modelId="{D269E62A-CEAC-44C7-BB04-935F4FF23324}" type="presParOf" srcId="{38E04B71-E3F5-496B-B640-61E8536392C2}" destId="{FD2C4B40-81EB-4C44-BD70-3284A13D61C0}" srcOrd="1" destOrd="0" presId="urn:microsoft.com/office/officeart/2005/8/layout/vProcess5"/>
    <dgm:cxn modelId="{DFD4E05A-6E9A-4D6C-8DA4-1BA530FAA626}" type="presParOf" srcId="{38E04B71-E3F5-496B-B640-61E8536392C2}" destId="{FFC8DD76-FDDD-4131-9E4C-C151617014D7}" srcOrd="2" destOrd="0" presId="urn:microsoft.com/office/officeart/2005/8/layout/vProcess5"/>
    <dgm:cxn modelId="{B142D087-A3C4-4355-A423-B89524972B7D}" type="presParOf" srcId="{38E04B71-E3F5-496B-B640-61E8536392C2}" destId="{317A2ED5-8837-4046-9369-AED1AD225CD9}" srcOrd="3" destOrd="0" presId="urn:microsoft.com/office/officeart/2005/8/layout/vProcess5"/>
    <dgm:cxn modelId="{31651168-BEF0-4F1C-9435-428D4908C2B8}" type="presParOf" srcId="{38E04B71-E3F5-496B-B640-61E8536392C2}" destId="{D45F1531-4DA7-4450-9480-307462BC2A6B}" srcOrd="4" destOrd="0" presId="urn:microsoft.com/office/officeart/2005/8/layout/vProcess5"/>
    <dgm:cxn modelId="{C5EF24A0-C6D8-4172-9D45-8BE1ED562B38}" type="presParOf" srcId="{38E04B71-E3F5-496B-B640-61E8536392C2}" destId="{E6FF2E22-CFA8-4410-8E90-0A0E83C7FF5D}" srcOrd="5" destOrd="0" presId="urn:microsoft.com/office/officeart/2005/8/layout/vProcess5"/>
    <dgm:cxn modelId="{23DE3152-CF32-4054-9DA5-ED4EE8A93C70}" type="presParOf" srcId="{38E04B71-E3F5-496B-B640-61E8536392C2}" destId="{376579DE-5418-46B1-9350-7063F52EBE85}" srcOrd="6" destOrd="0" presId="urn:microsoft.com/office/officeart/2005/8/layout/vProcess5"/>
    <dgm:cxn modelId="{DC75BA20-C4D5-4F76-98ED-CBBA1D1A26FC}" type="presParOf" srcId="{38E04B71-E3F5-496B-B640-61E8536392C2}" destId="{2856EFDE-3CB4-4166-85A2-EFD475ACDEE0}" srcOrd="7" destOrd="0" presId="urn:microsoft.com/office/officeart/2005/8/layout/vProcess5"/>
    <dgm:cxn modelId="{2CE826F9-AE93-4014-A3BA-38BC6BBAA5EC}" type="presParOf" srcId="{38E04B71-E3F5-496B-B640-61E8536392C2}" destId="{741B31F8-F882-4877-BD73-76192D4D3BAE}"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C4B40-81EB-4C44-BD70-3284A13D61C0}">
      <dsp:nvSpPr>
        <dsp:cNvPr id="0" name=""/>
        <dsp:cNvSpPr/>
      </dsp:nvSpPr>
      <dsp:spPr>
        <a:xfrm>
          <a:off x="0" y="0"/>
          <a:ext cx="9365742" cy="123575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Initial parameters are generated based on existing literature</a:t>
          </a:r>
        </a:p>
      </dsp:txBody>
      <dsp:txXfrm>
        <a:off x="36194" y="36194"/>
        <a:ext cx="8032269" cy="1163363"/>
      </dsp:txXfrm>
    </dsp:sp>
    <dsp:sp modelId="{FFC8DD76-FDDD-4131-9E4C-C151617014D7}">
      <dsp:nvSpPr>
        <dsp:cNvPr id="0" name=""/>
        <dsp:cNvSpPr/>
      </dsp:nvSpPr>
      <dsp:spPr>
        <a:xfrm>
          <a:off x="826388" y="1441710"/>
          <a:ext cx="9365742" cy="123575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Parameters on both BOLT and RVR are adjusted simultaneously and independently</a:t>
          </a:r>
        </a:p>
      </dsp:txBody>
      <dsp:txXfrm>
        <a:off x="862582" y="1477904"/>
        <a:ext cx="7663726" cy="1163363"/>
      </dsp:txXfrm>
    </dsp:sp>
    <dsp:sp modelId="{317A2ED5-8837-4046-9369-AED1AD225CD9}">
      <dsp:nvSpPr>
        <dsp:cNvPr id="0" name=""/>
        <dsp:cNvSpPr/>
      </dsp:nvSpPr>
      <dsp:spPr>
        <a:xfrm>
          <a:off x="1652777" y="2883420"/>
          <a:ext cx="9365742" cy="123575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AU" sz="3100" kern="1200"/>
            <a:t>Emergent behaviour is produced and data is collected through VICON</a:t>
          </a:r>
        </a:p>
      </dsp:txBody>
      <dsp:txXfrm>
        <a:off x="1688971" y="2919614"/>
        <a:ext cx="7663726" cy="1163363"/>
      </dsp:txXfrm>
    </dsp:sp>
    <dsp:sp modelId="{D45F1531-4DA7-4450-9480-307462BC2A6B}">
      <dsp:nvSpPr>
        <dsp:cNvPr id="0" name=""/>
        <dsp:cNvSpPr/>
      </dsp:nvSpPr>
      <dsp:spPr>
        <a:xfrm>
          <a:off x="8562503" y="937111"/>
          <a:ext cx="803238" cy="803238"/>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AU" sz="3600" kern="1200"/>
        </a:p>
      </dsp:txBody>
      <dsp:txXfrm>
        <a:off x="8743232" y="937111"/>
        <a:ext cx="441780" cy="604437"/>
      </dsp:txXfrm>
    </dsp:sp>
    <dsp:sp modelId="{E6FF2E22-CFA8-4410-8E90-0A0E83C7FF5D}">
      <dsp:nvSpPr>
        <dsp:cNvPr id="0" name=""/>
        <dsp:cNvSpPr/>
      </dsp:nvSpPr>
      <dsp:spPr>
        <a:xfrm>
          <a:off x="9388892" y="2370583"/>
          <a:ext cx="803238" cy="803238"/>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AU" sz="3600" kern="1200"/>
        </a:p>
      </dsp:txBody>
      <dsp:txXfrm>
        <a:off x="9569621" y="2370583"/>
        <a:ext cx="441780" cy="60443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88B29-AD09-4D3A-B138-2802799C399E}" type="datetimeFigureOut">
              <a:rPr lang="en-AU" smtClean="0"/>
              <a:t>25/10/2024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61A15-B66B-4C63-A32E-1DFFEE3B915C}" type="slidenum">
              <a:rPr lang="en-AU" smtClean="0"/>
              <a:t>‹#›</a:t>
            </a:fld>
            <a:endParaRPr lang="en-AU"/>
          </a:p>
        </p:txBody>
      </p:sp>
    </p:spTree>
    <p:extLst>
      <p:ext uri="{BB962C8B-B14F-4D97-AF65-F5344CB8AC3E}">
        <p14:creationId xmlns:p14="http://schemas.microsoft.com/office/powerpoint/2010/main" val="2684282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1</a:t>
            </a:fld>
            <a:endParaRPr lang="en-AU"/>
          </a:p>
        </p:txBody>
      </p:sp>
    </p:spTree>
    <p:extLst>
      <p:ext uri="{BB962C8B-B14F-4D97-AF65-F5344CB8AC3E}">
        <p14:creationId xmlns:p14="http://schemas.microsoft.com/office/powerpoint/2010/main" val="2585836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There is currently no work implementing </a:t>
            </a:r>
            <a:r>
              <a:rPr lang="en-AU" err="1"/>
              <a:t>boid</a:t>
            </a:r>
            <a:r>
              <a:rPr lang="en-AU"/>
              <a:t> swarms on heterogeneous swarms of low cost commercially available robots, with emergent behaviours offering similar outcomes to other formation control methods however having significantly higher computational efficiency they are very useful for optimising robotic swarms.</a:t>
            </a:r>
          </a:p>
          <a:p>
            <a:endParaRPr lang="en-AU"/>
          </a:p>
          <a:p>
            <a:r>
              <a:rPr lang="en-AU"/>
              <a:t>Hence to address the gap in knowledge, the aim of this project is to create a heterogeneous swarm of RVR and BOLT robots and to generate and observe emergent swarming behaviours within this swarm.</a:t>
            </a:r>
          </a:p>
        </p:txBody>
      </p:sp>
      <p:sp>
        <p:nvSpPr>
          <p:cNvPr id="4" name="Slide Number Placeholder 3"/>
          <p:cNvSpPr>
            <a:spLocks noGrp="1"/>
          </p:cNvSpPr>
          <p:nvPr>
            <p:ph type="sldNum" sz="quarter" idx="5"/>
          </p:nvPr>
        </p:nvSpPr>
        <p:spPr/>
        <p:txBody>
          <a:bodyPr/>
          <a:lstStyle/>
          <a:p>
            <a:fld id="{5FB61A15-B66B-4C63-A32E-1DFFEE3B915C}" type="slidenum">
              <a:rPr lang="en-AU" smtClean="0"/>
              <a:t>2</a:t>
            </a:fld>
            <a:endParaRPr lang="en-AU"/>
          </a:p>
        </p:txBody>
      </p:sp>
    </p:spTree>
    <p:extLst>
      <p:ext uri="{BB962C8B-B14F-4D97-AF65-F5344CB8AC3E}">
        <p14:creationId xmlns:p14="http://schemas.microsoft.com/office/powerpoint/2010/main" val="347461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AU"/>
              <a:t>Boids model is the foundation of this work, this project uses this model</a:t>
            </a:r>
          </a:p>
          <a:p>
            <a:pPr marL="0" indent="0">
              <a:buFont typeface="Arial" panose="020B0604020202020204" pitchFamily="34" charset="0"/>
              <a:buNone/>
            </a:pPr>
            <a:endParaRPr lang="en-AU"/>
          </a:p>
          <a:p>
            <a:pPr marL="0" indent="0">
              <a:buFont typeface="Arial" panose="020B0604020202020204" pitchFamily="34" charset="0"/>
              <a:buNone/>
            </a:pPr>
            <a:r>
              <a:rPr lang="en-AU"/>
              <a:t>Emergent behaviours used within the report are generated from the papers by Khan and Yang</a:t>
            </a:r>
          </a:p>
        </p:txBody>
      </p:sp>
      <p:sp>
        <p:nvSpPr>
          <p:cNvPr id="4" name="Slide Number Placeholder 3"/>
          <p:cNvSpPr>
            <a:spLocks noGrp="1"/>
          </p:cNvSpPr>
          <p:nvPr>
            <p:ph type="sldNum" sz="quarter" idx="5"/>
          </p:nvPr>
        </p:nvSpPr>
        <p:spPr/>
        <p:txBody>
          <a:bodyPr/>
          <a:lstStyle/>
          <a:p>
            <a:fld id="{5FB61A15-B66B-4C63-A32E-1DFFEE3B915C}" type="slidenum">
              <a:rPr lang="en-AU" smtClean="0"/>
              <a:t>3</a:t>
            </a:fld>
            <a:endParaRPr lang="en-AU"/>
          </a:p>
        </p:txBody>
      </p:sp>
    </p:spTree>
    <p:extLst>
      <p:ext uri="{BB962C8B-B14F-4D97-AF65-F5344CB8AC3E}">
        <p14:creationId xmlns:p14="http://schemas.microsoft.com/office/powerpoint/2010/main" val="1678855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The heterogeneous swarm is a </a:t>
            </a:r>
            <a:r>
              <a:rPr lang="en-AU" err="1"/>
              <a:t>boid</a:t>
            </a:r>
            <a:r>
              <a:rPr lang="en-AU"/>
              <a:t> swarm by nature, utilising each of the </a:t>
            </a:r>
            <a:r>
              <a:rPr lang="en-AU" err="1"/>
              <a:t>boid</a:t>
            </a:r>
            <a:r>
              <a:rPr lang="en-AU"/>
              <a:t> rules of separation cohesion and alignment</a:t>
            </a:r>
          </a:p>
          <a:p>
            <a:endParaRPr lang="en-AU"/>
          </a:p>
          <a:p>
            <a:r>
              <a:rPr lang="en-AU"/>
              <a:t>This is utilised within this project to create emergent behaviour as </a:t>
            </a:r>
            <a:r>
              <a:rPr lang="en-AU" err="1"/>
              <a:t>boid</a:t>
            </a:r>
            <a:r>
              <a:rPr lang="en-AU"/>
              <a:t> swarms are most accepting of emergent behaviour due to them having no requirement for a goal</a:t>
            </a:r>
          </a:p>
          <a:p>
            <a:endParaRPr lang="en-AU"/>
          </a:p>
          <a:p>
            <a:r>
              <a:rPr lang="en-AU"/>
              <a:t>Initially a decentralised control framework was attempted, this ended up being unsuccessful for multiple reasons:</a:t>
            </a:r>
          </a:p>
          <a:p>
            <a:pPr marL="171450" indent="-171450">
              <a:buFontTx/>
              <a:buChar char="-"/>
            </a:pPr>
            <a:r>
              <a:rPr lang="en-AU"/>
              <a:t>Communications links were not robust and stable enough </a:t>
            </a:r>
          </a:p>
          <a:p>
            <a:pPr marL="171450" indent="-171450">
              <a:buFontTx/>
              <a:buChar char="-"/>
            </a:pPr>
            <a:r>
              <a:rPr lang="en-AU"/>
              <a:t>Caused too much data and calculations to occur on RVR resulting in delays</a:t>
            </a:r>
          </a:p>
          <a:p>
            <a:pPr marL="0" indent="0">
              <a:buFontTx/>
              <a:buNone/>
            </a:pPr>
            <a:endParaRPr lang="en-AU"/>
          </a:p>
          <a:p>
            <a:pPr marL="171450" indent="-171450">
              <a:buFontTx/>
              <a:buChar char="-"/>
            </a:pPr>
            <a:endParaRPr lang="en-AU"/>
          </a:p>
          <a:p>
            <a:pPr marL="171450" indent="-171450">
              <a:buFontTx/>
              <a:buChar char="-"/>
            </a:pPr>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4</a:t>
            </a:fld>
            <a:endParaRPr lang="en-AU"/>
          </a:p>
        </p:txBody>
      </p:sp>
    </p:spTree>
    <p:extLst>
      <p:ext uri="{BB962C8B-B14F-4D97-AF65-F5344CB8AC3E}">
        <p14:creationId xmlns:p14="http://schemas.microsoft.com/office/powerpoint/2010/main" val="249629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RVR has a raspberry pi, which communicates with the RVR through UART through wired connection while it communicates with the swarm controller over TCP socket</a:t>
            </a:r>
          </a:p>
          <a:p>
            <a:endParaRPr lang="en-AU"/>
          </a:p>
          <a:p>
            <a:r>
              <a:rPr lang="en-AU"/>
              <a:t>BOLT robot communicates through python bleak Bluetooth low energy library</a:t>
            </a:r>
          </a:p>
          <a:p>
            <a:endParaRPr lang="en-AU"/>
          </a:p>
          <a:p>
            <a:r>
              <a:rPr lang="en-AU"/>
              <a:t>While both have IR capability this was found to be too locked down to use, and while RVR had Bluetooth, experimentally it was found to be very susceptible to noise and became extremely difficult to connect to the Bluetooth and would frequently disconnect during testing</a:t>
            </a:r>
          </a:p>
        </p:txBody>
      </p:sp>
      <p:sp>
        <p:nvSpPr>
          <p:cNvPr id="4" name="Slide Number Placeholder 3"/>
          <p:cNvSpPr>
            <a:spLocks noGrp="1"/>
          </p:cNvSpPr>
          <p:nvPr>
            <p:ph type="sldNum" sz="quarter" idx="5"/>
          </p:nvPr>
        </p:nvSpPr>
        <p:spPr/>
        <p:txBody>
          <a:bodyPr/>
          <a:lstStyle/>
          <a:p>
            <a:fld id="{5FB61A15-B66B-4C63-A32E-1DFFEE3B915C}" type="slidenum">
              <a:rPr lang="en-AU" smtClean="0"/>
              <a:t>5</a:t>
            </a:fld>
            <a:endParaRPr lang="en-AU"/>
          </a:p>
        </p:txBody>
      </p:sp>
    </p:spTree>
    <p:extLst>
      <p:ext uri="{BB962C8B-B14F-4D97-AF65-F5344CB8AC3E}">
        <p14:creationId xmlns:p14="http://schemas.microsoft.com/office/powerpoint/2010/main" val="3311476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AU"/>
              <a:t>Communications within robotic swarms is commonly a difficult problem, this is especially difficult within heterogeneous robots</a:t>
            </a:r>
          </a:p>
          <a:p>
            <a:pPr marL="0" indent="0">
              <a:buFont typeface="Arial" panose="020B0604020202020204" pitchFamily="34" charset="0"/>
              <a:buNone/>
            </a:pPr>
            <a:r>
              <a:rPr lang="en-AU"/>
              <a:t>Even though RVR and BOLT are of  the same manufacturer they still use significantly different communications and control schemes, as RVR uses a Raspberry Pi that can connect over LAN while BOLT is only Bluetooth enabled.</a:t>
            </a:r>
          </a:p>
          <a:p>
            <a:pPr marL="0" indent="0">
              <a:buFont typeface="Arial" panose="020B0604020202020204" pitchFamily="34" charset="0"/>
              <a:buNone/>
            </a:pPr>
            <a:endParaRPr lang="en-AU"/>
          </a:p>
          <a:p>
            <a:pPr marL="0" indent="0">
              <a:buFont typeface="Arial" panose="020B0604020202020204" pitchFamily="34" charset="0"/>
              <a:buNone/>
            </a:pPr>
            <a:r>
              <a:rPr lang="en-AU"/>
              <a:t>The system functions by each agent initialising with set parameters, each agent operates as its own object, to update the agent’s velocity it passes its parameters to the central swarm controller which stores locations of all agents through VICON, this is then used to calculate the </a:t>
            </a:r>
            <a:r>
              <a:rPr lang="en-AU" err="1"/>
              <a:t>boid</a:t>
            </a:r>
            <a:r>
              <a:rPr lang="en-AU"/>
              <a:t> forces and update each agent’s velocity.</a:t>
            </a:r>
          </a:p>
          <a:p>
            <a:pPr marL="0" indent="0">
              <a:buFont typeface="Arial" panose="020B0604020202020204" pitchFamily="34" charset="0"/>
              <a:buNone/>
            </a:pPr>
            <a:r>
              <a:rPr lang="en-AU"/>
              <a:t>Following this each agent utilises its class specific methods to pass the updated velocity on to the robot, RVR through the use of TCP socket and BOLT through use of bleak library.</a:t>
            </a:r>
          </a:p>
          <a:p>
            <a:pPr marL="0" indent="0">
              <a:buFont typeface="Arial" panose="020B0604020202020204" pitchFamily="34" charset="0"/>
              <a:buNone/>
            </a:pPr>
            <a:r>
              <a:rPr lang="en-AU"/>
              <a:t> </a:t>
            </a:r>
          </a:p>
        </p:txBody>
      </p:sp>
      <p:sp>
        <p:nvSpPr>
          <p:cNvPr id="4" name="Slide Number Placeholder 3"/>
          <p:cNvSpPr>
            <a:spLocks noGrp="1"/>
          </p:cNvSpPr>
          <p:nvPr>
            <p:ph type="sldNum" sz="quarter" idx="5"/>
          </p:nvPr>
        </p:nvSpPr>
        <p:spPr/>
        <p:txBody>
          <a:bodyPr/>
          <a:lstStyle/>
          <a:p>
            <a:fld id="{5FB61A15-B66B-4C63-A32E-1DFFEE3B915C}" type="slidenum">
              <a:rPr lang="en-AU" smtClean="0"/>
              <a:t>6</a:t>
            </a:fld>
            <a:endParaRPr lang="en-AU"/>
          </a:p>
        </p:txBody>
      </p:sp>
    </p:spTree>
    <p:extLst>
      <p:ext uri="{BB962C8B-B14F-4D97-AF65-F5344CB8AC3E}">
        <p14:creationId xmlns:p14="http://schemas.microsoft.com/office/powerpoint/2010/main" val="3239075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The environment was a 2 x 2 m virtual square in which robots would bounce off this boundary, robots were set with the layout shown </a:t>
            </a:r>
          </a:p>
          <a:p>
            <a:endParaRPr lang="en-AU"/>
          </a:p>
          <a:p>
            <a:r>
              <a:rPr lang="en-AU"/>
              <a:t>The first studies conducted were those to validate that the system functioned as intended, this included a test of 3 BOLTs, 3 RVRs and 2 BOLTs and 1 RVR to show that each set would swarm</a:t>
            </a:r>
          </a:p>
          <a:p>
            <a:endParaRPr lang="en-AU"/>
          </a:p>
          <a:p>
            <a:r>
              <a:rPr lang="en-AU"/>
              <a:t>Following this four unique behaviours were studied:</a:t>
            </a:r>
          </a:p>
          <a:p>
            <a:pPr marL="171450" indent="-171450">
              <a:buFontTx/>
              <a:buChar char="-"/>
            </a:pPr>
            <a:r>
              <a:rPr lang="en-AU"/>
              <a:t>Flocking </a:t>
            </a:r>
          </a:p>
          <a:p>
            <a:pPr marL="171450" indent="-171450">
              <a:buFontTx/>
              <a:buChar char="-"/>
            </a:pPr>
            <a:r>
              <a:rPr lang="en-AU"/>
              <a:t>Lines</a:t>
            </a:r>
          </a:p>
          <a:p>
            <a:pPr marL="171450" indent="-171450">
              <a:buFontTx/>
              <a:buChar char="-"/>
            </a:pPr>
            <a:r>
              <a:rPr lang="en-AU"/>
              <a:t>Gravity</a:t>
            </a:r>
          </a:p>
          <a:p>
            <a:pPr marL="171450" indent="-171450">
              <a:buFontTx/>
              <a:buChar char="-"/>
            </a:pPr>
            <a:r>
              <a:rPr lang="en-AU"/>
              <a:t>Random (control)</a:t>
            </a:r>
          </a:p>
          <a:p>
            <a:pPr marL="0" indent="0">
              <a:buFontTx/>
              <a:buNone/>
            </a:pPr>
            <a:endParaRPr lang="en-AU"/>
          </a:p>
          <a:p>
            <a:pPr marL="0" indent="0">
              <a:buFontTx/>
              <a:buNone/>
            </a:pPr>
            <a:r>
              <a:rPr lang="en-AU"/>
              <a:t>These behaviours were based on existing literature (there aren’t clear definitions they just resemble things)</a:t>
            </a:r>
          </a:p>
          <a:p>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7</a:t>
            </a:fld>
            <a:endParaRPr lang="en-AU"/>
          </a:p>
        </p:txBody>
      </p:sp>
    </p:spTree>
    <p:extLst>
      <p:ext uri="{BB962C8B-B14F-4D97-AF65-F5344CB8AC3E}">
        <p14:creationId xmlns:p14="http://schemas.microsoft.com/office/powerpoint/2010/main" val="2344566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Parameter tuning took place by first reviewing literature on homogeneous emergent behaviours, then using these performing multiple experiments to study and understand the effects of each parameter within the behaviour. </a:t>
            </a:r>
          </a:p>
          <a:p>
            <a:endParaRPr lang="en-AU"/>
          </a:p>
          <a:p>
            <a:r>
              <a:rPr lang="en-AU"/>
              <a:t>If RVR and BOLT began forming individual swarms the parameters would be typically adjusted independently in order to bring them back together – this is an example of intuitively tuning</a:t>
            </a:r>
          </a:p>
          <a:p>
            <a:endParaRPr lang="en-AU"/>
          </a:p>
          <a:p>
            <a:r>
              <a:rPr lang="en-AU"/>
              <a:t>Once the desired behaviour emerged four trials of each behaviour were run and the data produced was collected through VICON and analysed using </a:t>
            </a:r>
            <a:r>
              <a:rPr lang="en-AU" err="1"/>
              <a:t>pyplot</a:t>
            </a:r>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8</a:t>
            </a:fld>
            <a:endParaRPr lang="en-AU"/>
          </a:p>
        </p:txBody>
      </p:sp>
    </p:spTree>
    <p:extLst>
      <p:ext uri="{BB962C8B-B14F-4D97-AF65-F5344CB8AC3E}">
        <p14:creationId xmlns:p14="http://schemas.microsoft.com/office/powerpoint/2010/main" val="1296816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These were the final parameters used within each studied behaviour, noting that random is not included as everything was 0,</a:t>
            </a:r>
          </a:p>
        </p:txBody>
      </p:sp>
      <p:sp>
        <p:nvSpPr>
          <p:cNvPr id="4" name="Slide Number Placeholder 3"/>
          <p:cNvSpPr>
            <a:spLocks noGrp="1"/>
          </p:cNvSpPr>
          <p:nvPr>
            <p:ph type="sldNum" sz="quarter" idx="5"/>
          </p:nvPr>
        </p:nvSpPr>
        <p:spPr/>
        <p:txBody>
          <a:bodyPr/>
          <a:lstStyle/>
          <a:p>
            <a:fld id="{5FB61A15-B66B-4C63-A32E-1DFFEE3B915C}" type="slidenum">
              <a:rPr lang="en-AU" smtClean="0"/>
              <a:t>9</a:t>
            </a:fld>
            <a:endParaRPr lang="en-AU"/>
          </a:p>
        </p:txBody>
      </p:sp>
    </p:spTree>
    <p:extLst>
      <p:ext uri="{BB962C8B-B14F-4D97-AF65-F5344CB8AC3E}">
        <p14:creationId xmlns:p14="http://schemas.microsoft.com/office/powerpoint/2010/main" val="2703817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Higher grouping is further apart, lower grouping is closer together</a:t>
            </a:r>
          </a:p>
          <a:p>
            <a:endParaRPr lang="en-AU"/>
          </a:p>
          <a:p>
            <a:r>
              <a:rPr lang="en-AU"/>
              <a:t>Higher order is higher alignment between robot headings, lower order means more dispersion</a:t>
            </a:r>
          </a:p>
          <a:p>
            <a:endParaRPr lang="en-AU"/>
          </a:p>
          <a:p>
            <a:r>
              <a:rPr lang="en-AU"/>
              <a:t>Subgroup count – number of clusters of swarm members anything above 1 indicates that something is happening</a:t>
            </a:r>
          </a:p>
        </p:txBody>
      </p:sp>
      <p:sp>
        <p:nvSpPr>
          <p:cNvPr id="4" name="Slide Number Placeholder 3"/>
          <p:cNvSpPr>
            <a:spLocks noGrp="1"/>
          </p:cNvSpPr>
          <p:nvPr>
            <p:ph type="sldNum" sz="quarter" idx="5"/>
          </p:nvPr>
        </p:nvSpPr>
        <p:spPr/>
        <p:txBody>
          <a:bodyPr/>
          <a:lstStyle/>
          <a:p>
            <a:fld id="{5FB61A15-B66B-4C63-A32E-1DFFEE3B915C}" type="slidenum">
              <a:rPr lang="en-AU" smtClean="0"/>
              <a:t>10</a:t>
            </a:fld>
            <a:endParaRPr lang="en-AU"/>
          </a:p>
        </p:txBody>
      </p:sp>
    </p:spTree>
    <p:extLst>
      <p:ext uri="{BB962C8B-B14F-4D97-AF65-F5344CB8AC3E}">
        <p14:creationId xmlns:p14="http://schemas.microsoft.com/office/powerpoint/2010/main" val="3670638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study acted as the control to analyse the other studies, the up and down motion is due to the wall rebound rule and no intentional stochastic movement introduced into the swarm</a:t>
            </a:r>
          </a:p>
        </p:txBody>
      </p:sp>
      <p:sp>
        <p:nvSpPr>
          <p:cNvPr id="4" name="Slide Number Placeholder 3"/>
          <p:cNvSpPr>
            <a:spLocks noGrp="1"/>
          </p:cNvSpPr>
          <p:nvPr>
            <p:ph type="sldNum" sz="quarter" idx="5"/>
          </p:nvPr>
        </p:nvSpPr>
        <p:spPr/>
        <p:txBody>
          <a:bodyPr/>
          <a:lstStyle/>
          <a:p>
            <a:fld id="{5FB61A15-B66B-4C63-A32E-1DFFEE3B915C}" type="slidenum">
              <a:rPr lang="en-AU" smtClean="0"/>
              <a:t>11</a:t>
            </a:fld>
            <a:endParaRPr lang="en-AU"/>
          </a:p>
        </p:txBody>
      </p:sp>
    </p:spTree>
    <p:extLst>
      <p:ext uri="{BB962C8B-B14F-4D97-AF65-F5344CB8AC3E}">
        <p14:creationId xmlns:p14="http://schemas.microsoft.com/office/powerpoint/2010/main" val="418535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t>
            </a:r>
            <a:r>
              <a:rPr lang="en-US" err="1"/>
              <a:t>behaviour</a:t>
            </a:r>
            <a:r>
              <a:rPr lang="en-US"/>
              <a:t> reflects the movement of a flock of birds, school of fish, insects etc. They move in a group in the same direction as their </a:t>
            </a:r>
            <a:r>
              <a:rPr lang="en-US" err="1"/>
              <a:t>neighbours</a:t>
            </a:r>
            <a:r>
              <a:rPr lang="en-US"/>
              <a:t> while avoiding collisions. </a:t>
            </a:r>
          </a:p>
          <a:p>
            <a:r>
              <a:rPr lang="en-US"/>
              <a:t>This could prove practical as the flocking </a:t>
            </a:r>
            <a:r>
              <a:rPr lang="en-US" err="1"/>
              <a:t>behaviour</a:t>
            </a:r>
            <a:r>
              <a:rPr lang="en-US"/>
              <a:t> allows the swarm of robots to quickly move across an area while also achieving a large scale of coverage, furthermore this </a:t>
            </a:r>
            <a:r>
              <a:rPr lang="en-US" err="1"/>
              <a:t>behaviour</a:t>
            </a:r>
            <a:r>
              <a:rPr lang="en-US"/>
              <a:t> increases robustness of the swarm in information and access denied scenarios.</a:t>
            </a:r>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12</a:t>
            </a:fld>
            <a:endParaRPr lang="en-AU"/>
          </a:p>
        </p:txBody>
      </p:sp>
    </p:spTree>
    <p:extLst>
      <p:ext uri="{BB962C8B-B14F-4D97-AF65-F5344CB8AC3E}">
        <p14:creationId xmlns:p14="http://schemas.microsoft.com/office/powerpoint/2010/main" val="3928163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a:t>
            </a:r>
            <a:r>
              <a:rPr lang="en-US" err="1"/>
              <a:t>behaviour</a:t>
            </a:r>
            <a:r>
              <a:rPr lang="en-US"/>
              <a:t> we can observe </a:t>
            </a:r>
            <a:r>
              <a:rPr lang="en-US" err="1"/>
              <a:t>boids</a:t>
            </a:r>
            <a:r>
              <a:rPr lang="en-US"/>
              <a:t> queuing one after the other and forming a line. They may split into several lines or multiple lines could merge together over time.</a:t>
            </a:r>
          </a:p>
          <a:p>
            <a:r>
              <a:rPr lang="en-AU"/>
              <a:t>In the real world line following swarms are incredibly useful for large scale robust logistical transport which would increase their performance with the additional scalability and stability generated through an emergent behaviour.</a:t>
            </a:r>
            <a:endParaRPr lang="en-US"/>
          </a:p>
        </p:txBody>
      </p:sp>
      <p:sp>
        <p:nvSpPr>
          <p:cNvPr id="4" name="Slide Number Placeholder 3"/>
          <p:cNvSpPr>
            <a:spLocks noGrp="1"/>
          </p:cNvSpPr>
          <p:nvPr>
            <p:ph type="sldNum" sz="quarter" idx="5"/>
          </p:nvPr>
        </p:nvSpPr>
        <p:spPr/>
        <p:txBody>
          <a:bodyPr/>
          <a:lstStyle/>
          <a:p>
            <a:fld id="{5FB61A15-B66B-4C63-A32E-1DFFEE3B915C}" type="slidenum">
              <a:rPr lang="en-AU" smtClean="0"/>
              <a:t>13</a:t>
            </a:fld>
            <a:endParaRPr lang="en-AU"/>
          </a:p>
        </p:txBody>
      </p:sp>
    </p:spTree>
    <p:extLst>
      <p:ext uri="{BB962C8B-B14F-4D97-AF65-F5344CB8AC3E}">
        <p14:creationId xmlns:p14="http://schemas.microsoft.com/office/powerpoint/2010/main" val="262160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a:t>
            </a:r>
            <a:r>
              <a:rPr lang="en-US" err="1"/>
              <a:t>behaviour</a:t>
            </a:r>
            <a:r>
              <a:rPr lang="en-US"/>
              <a:t> we can observe that with time, </a:t>
            </a:r>
            <a:r>
              <a:rPr lang="en-US" err="1"/>
              <a:t>boids</a:t>
            </a:r>
            <a:r>
              <a:rPr lang="en-US"/>
              <a:t> get attracted to other </a:t>
            </a:r>
            <a:r>
              <a:rPr lang="en-US" err="1"/>
              <a:t>boids</a:t>
            </a:r>
            <a:r>
              <a:rPr lang="en-US"/>
              <a:t> in the vicinity, forming tightly grouped clusters of </a:t>
            </a:r>
            <a:r>
              <a:rPr lang="en-US" err="1"/>
              <a:t>boids</a:t>
            </a:r>
            <a:r>
              <a:rPr lang="en-US"/>
              <a:t> due to high cohesion.</a:t>
            </a:r>
          </a:p>
          <a:p>
            <a:r>
              <a:rPr lang="en-AU"/>
              <a:t>This could be utilised in a real world application for surveillance or long term monitoring, this would be especially useful for airborne swarms that are more energy efficient in orbiting patterns.</a:t>
            </a:r>
            <a:endParaRPr lang="en-US"/>
          </a:p>
        </p:txBody>
      </p:sp>
      <p:sp>
        <p:nvSpPr>
          <p:cNvPr id="4" name="Slide Number Placeholder 3"/>
          <p:cNvSpPr>
            <a:spLocks noGrp="1"/>
          </p:cNvSpPr>
          <p:nvPr>
            <p:ph type="sldNum" sz="quarter" idx="5"/>
          </p:nvPr>
        </p:nvSpPr>
        <p:spPr/>
        <p:txBody>
          <a:bodyPr/>
          <a:lstStyle/>
          <a:p>
            <a:fld id="{5FB61A15-B66B-4C63-A32E-1DFFEE3B915C}" type="slidenum">
              <a:rPr lang="en-AU" smtClean="0"/>
              <a:t>14</a:t>
            </a:fld>
            <a:endParaRPr lang="en-AU"/>
          </a:p>
        </p:txBody>
      </p:sp>
    </p:spTree>
    <p:extLst>
      <p:ext uri="{BB962C8B-B14F-4D97-AF65-F5344CB8AC3E}">
        <p14:creationId xmlns:p14="http://schemas.microsoft.com/office/powerpoint/2010/main" val="184681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Final Remarks:</a:t>
            </a:r>
            <a:endParaRPr lang="en-US"/>
          </a:p>
          <a:p>
            <a:pPr>
              <a:buFont typeface="Arial" panose="020B0604020202020204" pitchFamily="34" charset="0"/>
              <a:buChar char="•"/>
            </a:pPr>
            <a:r>
              <a:rPr lang="en-US"/>
              <a:t>The study confirms that different swarming behaviors can be quantitatively distinguished using specific metrics.</a:t>
            </a:r>
          </a:p>
          <a:p>
            <a:pPr>
              <a:buFont typeface="Arial" panose="020B0604020202020204" pitchFamily="34" charset="0"/>
              <a:buChar char="•"/>
            </a:pPr>
            <a:r>
              <a:rPr lang="en-US"/>
              <a:t>Understanding these behaviors allows for the development of more efficient and effective robotic swarms.</a:t>
            </a:r>
          </a:p>
          <a:p>
            <a:pPr>
              <a:buFont typeface="Arial" panose="020B0604020202020204" pitchFamily="34" charset="0"/>
              <a:buChar char="•"/>
            </a:pPr>
            <a:r>
              <a:rPr lang="en-US"/>
              <a:t>This research has implications for fields like search and rescue, environmental monitoring, and autonomous exploration.</a:t>
            </a:r>
          </a:p>
          <a:p>
            <a:pPr>
              <a:buFont typeface="Arial" panose="020B0604020202020204" pitchFamily="34" charset="0"/>
              <a:buNone/>
            </a:pPr>
            <a:endParaRPr lang="en-US" b="1"/>
          </a:p>
          <a:p>
            <a:r>
              <a:rPr lang="en-US" b="1"/>
              <a:t>Grouping</a:t>
            </a:r>
          </a:p>
          <a:p>
            <a:pPr>
              <a:buFont typeface="Arial" panose="020B0604020202020204" pitchFamily="34" charset="0"/>
              <a:buChar char="•"/>
            </a:pPr>
            <a:r>
              <a:rPr lang="en-US" b="1"/>
              <a:t>Definition</a:t>
            </a:r>
            <a:r>
              <a:rPr lang="en-US"/>
              <a:t>: Measures the average separation between agents</a:t>
            </a:r>
          </a:p>
          <a:p>
            <a:pPr>
              <a:buFont typeface="Arial" panose="020B0604020202020204" pitchFamily="34" charset="0"/>
              <a:buChar char="•"/>
            </a:pPr>
            <a:r>
              <a:rPr lang="en-US" b="1"/>
              <a:t>Findings</a:t>
            </a:r>
            <a:r>
              <a:rPr lang="en-US"/>
              <a:t>:</a:t>
            </a:r>
          </a:p>
          <a:p>
            <a:pPr marL="742950" lvl="1" indent="-285750">
              <a:buFont typeface="Arial" panose="020B0604020202020204" pitchFamily="34" charset="0"/>
              <a:buChar char="•"/>
            </a:pPr>
            <a:r>
              <a:rPr lang="en-US"/>
              <a:t>All behaviors have lower grouping values than random motion</a:t>
            </a:r>
          </a:p>
          <a:p>
            <a:pPr marL="1143000" lvl="2" indent="-228600">
              <a:buFont typeface="Arial" panose="020B0604020202020204" pitchFamily="34" charset="0"/>
              <a:buChar char="•"/>
            </a:pPr>
            <a:r>
              <a:rPr lang="en-US"/>
              <a:t>Indicates successful convergence of agents</a:t>
            </a:r>
          </a:p>
          <a:p>
            <a:pPr marL="742950" lvl="1" indent="-285750">
              <a:buFont typeface="Arial" panose="020B0604020202020204" pitchFamily="34" charset="0"/>
              <a:buChar char="•"/>
            </a:pPr>
            <a:r>
              <a:rPr lang="en-US"/>
              <a:t>Line following shows larger variance</a:t>
            </a:r>
          </a:p>
          <a:p>
            <a:pPr marL="1143000" lvl="2" indent="-228600">
              <a:buFont typeface="Arial" panose="020B0604020202020204" pitchFamily="34" charset="0"/>
              <a:buChar char="•"/>
            </a:pPr>
            <a:r>
              <a:rPr lang="en-US"/>
              <a:t>Due to decreased vision angle causing agents to occasionally lose the swarm</a:t>
            </a:r>
          </a:p>
          <a:p>
            <a:r>
              <a:rPr lang="en-US" b="1"/>
              <a:t>Order</a:t>
            </a:r>
          </a:p>
          <a:p>
            <a:pPr>
              <a:buFont typeface="Arial" panose="020B0604020202020204" pitchFamily="34" charset="0"/>
              <a:buChar char="•"/>
            </a:pPr>
            <a:r>
              <a:rPr lang="en-US" b="1"/>
              <a:t>Definition</a:t>
            </a:r>
            <a:r>
              <a:rPr lang="en-US"/>
              <a:t>: Assesses the alignment of agents' movements</a:t>
            </a:r>
          </a:p>
          <a:p>
            <a:pPr>
              <a:buFont typeface="Arial" panose="020B0604020202020204" pitchFamily="34" charset="0"/>
              <a:buChar char="•"/>
            </a:pPr>
            <a:r>
              <a:rPr lang="en-US" b="1"/>
              <a:t>Findings</a:t>
            </a:r>
            <a:r>
              <a:rPr lang="en-US"/>
              <a:t>:</a:t>
            </a:r>
          </a:p>
          <a:p>
            <a:pPr marL="742950" lvl="1" indent="-285750">
              <a:buFont typeface="Arial" panose="020B0604020202020204" pitchFamily="34" charset="0"/>
              <a:buChar char="•"/>
            </a:pPr>
            <a:r>
              <a:rPr lang="en-US"/>
              <a:t>Flocking and line following have significantly higher order values</a:t>
            </a:r>
          </a:p>
          <a:p>
            <a:pPr marL="1143000" lvl="2" indent="-228600">
              <a:buFont typeface="Arial" panose="020B0604020202020204" pitchFamily="34" charset="0"/>
              <a:buChar char="•"/>
            </a:pPr>
            <a:r>
              <a:rPr lang="en-US"/>
              <a:t>Indicates better alignment among robots</a:t>
            </a:r>
          </a:p>
          <a:p>
            <a:pPr marL="742950" lvl="1" indent="-285750">
              <a:buFont typeface="Arial" panose="020B0604020202020204" pitchFamily="34" charset="0"/>
              <a:buChar char="•"/>
            </a:pPr>
            <a:r>
              <a:rPr lang="en-US"/>
              <a:t>Gravity behavior has lower order</a:t>
            </a:r>
          </a:p>
          <a:p>
            <a:pPr marL="1143000" lvl="2" indent="-228600">
              <a:buFont typeface="Arial" panose="020B0604020202020204" pitchFamily="34" charset="0"/>
              <a:buChar char="•"/>
            </a:pPr>
            <a:r>
              <a:rPr lang="en-US"/>
              <a:t>Circular motion results in no consistent alignment</a:t>
            </a:r>
          </a:p>
          <a:p>
            <a:r>
              <a:rPr lang="en-US" b="1"/>
              <a:t>Subgroup Count</a:t>
            </a:r>
          </a:p>
          <a:p>
            <a:pPr>
              <a:buFont typeface="Arial" panose="020B0604020202020204" pitchFamily="34" charset="0"/>
              <a:buChar char="•"/>
            </a:pPr>
            <a:r>
              <a:rPr lang="en-US" b="1"/>
              <a:t>Definition</a:t>
            </a:r>
            <a:r>
              <a:rPr lang="en-US"/>
              <a:t>: Number of separate groups within the swarm</a:t>
            </a:r>
          </a:p>
          <a:p>
            <a:pPr>
              <a:buFont typeface="Arial" panose="020B0604020202020204" pitchFamily="34" charset="0"/>
              <a:buChar char="•"/>
            </a:pPr>
            <a:r>
              <a:rPr lang="en-US" b="1"/>
              <a:t>Findings</a:t>
            </a:r>
            <a:r>
              <a:rPr lang="en-US"/>
              <a:t>:</a:t>
            </a:r>
          </a:p>
          <a:p>
            <a:pPr marL="742950" lvl="1" indent="-285750">
              <a:buFont typeface="Arial" panose="020B0604020202020204" pitchFamily="34" charset="0"/>
              <a:buChar char="•"/>
            </a:pPr>
            <a:r>
              <a:rPr lang="en-US"/>
              <a:t>Swarming behaviors have higher subgroup counts than random motion</a:t>
            </a:r>
          </a:p>
          <a:p>
            <a:pPr marL="1143000" lvl="2" indent="-228600">
              <a:buFont typeface="Arial" panose="020B0604020202020204" pitchFamily="34" charset="0"/>
              <a:buChar char="•"/>
            </a:pPr>
            <a:r>
              <a:rPr lang="en-US"/>
              <a:t>Suggests some splintering in swarming behaviors</a:t>
            </a:r>
          </a:p>
          <a:p>
            <a:pPr marL="742950" lvl="1" indent="-285750">
              <a:buFont typeface="Arial" panose="020B0604020202020204" pitchFamily="34" charset="0"/>
              <a:buChar char="•"/>
            </a:pPr>
            <a:r>
              <a:rPr lang="en-US"/>
              <a:t>Small differences are expected due to experimental constraints</a:t>
            </a:r>
          </a:p>
          <a:p>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15</a:t>
            </a:fld>
            <a:endParaRPr lang="en-AU"/>
          </a:p>
        </p:txBody>
      </p:sp>
    </p:spTree>
    <p:extLst>
      <p:ext uri="{BB962C8B-B14F-4D97-AF65-F5344CB8AC3E}">
        <p14:creationId xmlns:p14="http://schemas.microsoft.com/office/powerpoint/2010/main" val="1102016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This project showed that it was possible to use low cost BOLT and RVR robots to create a heterogeneous </a:t>
            </a:r>
            <a:r>
              <a:rPr lang="en-AU" err="1"/>
              <a:t>boid</a:t>
            </a:r>
            <a:r>
              <a:rPr lang="en-AU"/>
              <a:t> swarm and that it was possible for this to produce emergent behaviours</a:t>
            </a:r>
          </a:p>
          <a:p>
            <a:endParaRPr lang="en-AU"/>
          </a:p>
          <a:p>
            <a:r>
              <a:rPr lang="en-AU"/>
              <a:t>Future research could focus on experimenting with asymmetric heterogeneous emergent behaviour, implementing the heterogeneous swarm designed into a practical real world scenario, such as coverage or source localisation</a:t>
            </a:r>
          </a:p>
        </p:txBody>
      </p:sp>
      <p:sp>
        <p:nvSpPr>
          <p:cNvPr id="4" name="Slide Number Placeholder 3"/>
          <p:cNvSpPr>
            <a:spLocks noGrp="1"/>
          </p:cNvSpPr>
          <p:nvPr>
            <p:ph type="sldNum" sz="quarter" idx="5"/>
          </p:nvPr>
        </p:nvSpPr>
        <p:spPr/>
        <p:txBody>
          <a:bodyPr/>
          <a:lstStyle/>
          <a:p>
            <a:fld id="{5FB61A15-B66B-4C63-A32E-1DFFEE3B915C}" type="slidenum">
              <a:rPr lang="en-AU" smtClean="0"/>
              <a:t>16</a:t>
            </a:fld>
            <a:endParaRPr lang="en-AU"/>
          </a:p>
        </p:txBody>
      </p:sp>
    </p:spTree>
    <p:extLst>
      <p:ext uri="{BB962C8B-B14F-4D97-AF65-F5344CB8AC3E}">
        <p14:creationId xmlns:p14="http://schemas.microsoft.com/office/powerpoint/2010/main" val="649019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5FB61A15-B66B-4C63-A32E-1DFFEE3B915C}" type="slidenum">
              <a:rPr lang="en-AU" smtClean="0"/>
              <a:t>17</a:t>
            </a:fld>
            <a:endParaRPr lang="en-AU"/>
          </a:p>
        </p:txBody>
      </p:sp>
    </p:spTree>
    <p:extLst>
      <p:ext uri="{BB962C8B-B14F-4D97-AF65-F5344CB8AC3E}">
        <p14:creationId xmlns:p14="http://schemas.microsoft.com/office/powerpoint/2010/main" val="2896618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21746-87C8-6D95-74A2-C01DFA243A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DD4DA8E-E89B-0A10-3322-839C9A48CD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FF3B250-1A64-B875-42F6-FAE53D17C485}"/>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8A8E0548-5D0F-D01F-A897-DFFCA2FDC20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7AC8B5-3232-9D05-B8C2-5263AF5569C4}"/>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2533847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4ED1-FFB5-1FE6-186C-31532385AF1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CD3C5D4-79F9-2155-30F5-2BEC3A155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1E30572-1888-BF2F-2CE3-9C2806536FFB}"/>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3C3D7EC6-DDD8-0271-C95E-60960FACF0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04ED5B9-55F2-8211-F5D4-07A2205ED2B6}"/>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2828910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D9221-4554-CD33-51A2-8A9F0595E8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374278E-0EBC-214F-D7BC-8F81A8073F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2425EE-0299-B218-EBC4-412525406485}"/>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1E7D8EF0-75C2-FED4-33BC-255E17C2AB4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D8D790B-77AE-EC68-A88A-F61698084A1F}"/>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3683015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97966-0793-0373-A4E8-25C55E12CA6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297E33F-8243-3127-648B-E685E74DA2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24FDEC6-E026-A13F-C307-EE81731024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69484D2-6F52-1712-CE7E-CA93E59B5BE8}"/>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6" name="Footer Placeholder 5">
            <a:extLst>
              <a:ext uri="{FF2B5EF4-FFF2-40B4-BE49-F238E27FC236}">
                <a16:creationId xmlns:a16="http://schemas.microsoft.com/office/drawing/2014/main" id="{EB949B60-C927-1C38-B167-DA3022ED7CE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078D727-2225-11B4-AF88-647B57D17B0C}"/>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3525861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4459D-940B-9733-D0AB-34895A8923F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41E7592-AED0-91E1-7A40-FE23BC24E6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388A46-EBAC-C34C-1E96-567839420F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604DD30-38CB-2357-4CAC-7521037E84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AEB31F-F4C6-4364-F75E-34D63D8AF8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4B7D9C8-3DE2-E608-37B2-110830D8258D}"/>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8" name="Footer Placeholder 7">
            <a:extLst>
              <a:ext uri="{FF2B5EF4-FFF2-40B4-BE49-F238E27FC236}">
                <a16:creationId xmlns:a16="http://schemas.microsoft.com/office/drawing/2014/main" id="{229FD1FA-DD30-DC94-900D-1F6AB5E0ADA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1FA7935-EB27-B6DD-9180-82BA9771A5A4}"/>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638255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21704-D5DA-57C6-6AB1-30ED8123D5B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BE25851-1B52-8D8C-789C-045EB7D9AE04}"/>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4" name="Footer Placeholder 3">
            <a:extLst>
              <a:ext uri="{FF2B5EF4-FFF2-40B4-BE49-F238E27FC236}">
                <a16:creationId xmlns:a16="http://schemas.microsoft.com/office/drawing/2014/main" id="{04919F77-7CD4-8B1D-1772-8181DBE40C3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F3A872D-EA8E-70F9-040D-56E21A716347}"/>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236522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A07699-E0B2-6637-2F3D-6FDE7281C63E}"/>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3" name="Footer Placeholder 2">
            <a:extLst>
              <a:ext uri="{FF2B5EF4-FFF2-40B4-BE49-F238E27FC236}">
                <a16:creationId xmlns:a16="http://schemas.microsoft.com/office/drawing/2014/main" id="{426D89A9-F00E-BC9D-17CE-C7783FB7FF3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0EE4BDB-F430-0681-34FF-DB3A6C0D1D56}"/>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2467835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F7119-67CE-4653-2985-A23F09131F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31939D-E9DC-7BCD-55DA-A5752E650A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A5AB94E-46D8-3871-5114-3C7246448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AF80A6-E577-EED0-8016-CDF889F04A6B}"/>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6" name="Footer Placeholder 5">
            <a:extLst>
              <a:ext uri="{FF2B5EF4-FFF2-40B4-BE49-F238E27FC236}">
                <a16:creationId xmlns:a16="http://schemas.microsoft.com/office/drawing/2014/main" id="{FF76CD00-5B51-A784-772A-6008CFA2168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31A3F9-AA7F-399E-BD73-DD60091D39B8}"/>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362124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9435D-0E8E-E4C5-FAC3-8EB16D7CF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C5D0C7C-A2F6-9A88-573F-AF11F5EAB0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509D106-A404-1C08-A762-7A2FAD1B1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6B0C8D-AC9B-2506-60E4-AAD557BCBED9}"/>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6" name="Footer Placeholder 5">
            <a:extLst>
              <a:ext uri="{FF2B5EF4-FFF2-40B4-BE49-F238E27FC236}">
                <a16:creationId xmlns:a16="http://schemas.microsoft.com/office/drawing/2014/main" id="{C0940C6C-D51C-8871-2CD0-10AF5878046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1441C03-1BE1-1F6B-347C-7B1C79326F38}"/>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4586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0448-3BE6-A158-A9C0-6B9184CDC5D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CAAFFDE-1714-5BE8-15F6-46E47C1696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177419-24B0-8BDD-9E95-F79BC09B88EE}"/>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B54CA19F-FB35-0062-7832-F8F9C675B56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4D3F60-C860-AFE2-9CFF-32F0E5C720EC}"/>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4137227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C9313E-112D-D99C-9C2D-BA03332E27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B95D619-137A-41A7-CB9A-ADCE12BA46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DBD483-F357-A62F-8A13-05E78A71F172}"/>
              </a:ext>
            </a:extLst>
          </p:cNvPr>
          <p:cNvSpPr>
            <a:spLocks noGrp="1"/>
          </p:cNvSpPr>
          <p:nvPr>
            <p:ph type="dt" sz="half" idx="10"/>
          </p:nvPr>
        </p:nvSpPr>
        <p:spPr/>
        <p:txBody>
          <a:body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2731E808-B360-A13C-014B-EB73F9117E5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74F219-7BB4-A0F6-AC76-9AD59F80DAF1}"/>
              </a:ext>
            </a:extLst>
          </p:cNvPr>
          <p:cNvSpPr>
            <a:spLocks noGrp="1"/>
          </p:cNvSpPr>
          <p:nvPr>
            <p:ph type="sldNum" sz="quarter" idx="12"/>
          </p:nvPr>
        </p:nvSpPr>
        <p:spPr/>
        <p:txBody>
          <a:bodyPr/>
          <a:lstStyle/>
          <a:p>
            <a:fld id="{C4DAC910-5BA5-4853-A3A1-E9D4F802FB42}" type="slidenum">
              <a:rPr lang="en-AU" smtClean="0"/>
              <a:t>‹#›</a:t>
            </a:fld>
            <a:endParaRPr lang="en-AU"/>
          </a:p>
        </p:txBody>
      </p:sp>
    </p:spTree>
    <p:extLst>
      <p:ext uri="{BB962C8B-B14F-4D97-AF65-F5344CB8AC3E}">
        <p14:creationId xmlns:p14="http://schemas.microsoft.com/office/powerpoint/2010/main" val="1724238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9F3AD7-69F0-83DA-8364-C6E6D9BA70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3564D95-50A4-932F-25E0-FD7D5B93ED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79BFDA8-728A-496C-04E9-3DB264E9A5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58AA47-67EB-4CEC-90E0-129099A4F368}" type="datetimeFigureOut">
              <a:rPr lang="en-AU" smtClean="0"/>
              <a:t>25/10/2024</a:t>
            </a:fld>
            <a:endParaRPr lang="en-AU"/>
          </a:p>
        </p:txBody>
      </p:sp>
      <p:sp>
        <p:nvSpPr>
          <p:cNvPr id="5" name="Footer Placeholder 4">
            <a:extLst>
              <a:ext uri="{FF2B5EF4-FFF2-40B4-BE49-F238E27FC236}">
                <a16:creationId xmlns:a16="http://schemas.microsoft.com/office/drawing/2014/main" id="{8908E22D-F3C4-FFD1-5C14-3721DC82E7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25E59210-C104-D1A4-4B87-EC63E654B8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DAC910-5BA5-4853-A3A1-E9D4F802FB42}" type="slidenum">
              <a:rPr lang="en-AU" smtClean="0"/>
              <a:t>‹#›</a:t>
            </a:fld>
            <a:endParaRPr lang="en-AU"/>
          </a:p>
        </p:txBody>
      </p:sp>
    </p:spTree>
    <p:extLst>
      <p:ext uri="{BB962C8B-B14F-4D97-AF65-F5344CB8AC3E}">
        <p14:creationId xmlns:p14="http://schemas.microsoft.com/office/powerpoint/2010/main" val="1166630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small white objects on a grey surface&#10;&#10;Description automatically generated">
            <a:extLst>
              <a:ext uri="{FF2B5EF4-FFF2-40B4-BE49-F238E27FC236}">
                <a16:creationId xmlns:a16="http://schemas.microsoft.com/office/drawing/2014/main" id="{96765A9A-D640-4A53-CA09-BDDD9A4F8D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 y="-10732"/>
            <a:ext cx="12192000" cy="6868732"/>
          </a:xfrm>
          <a:prstGeom prst="rect">
            <a:avLst/>
          </a:prstGeom>
        </p:spPr>
      </p:pic>
      <p:sp>
        <p:nvSpPr>
          <p:cNvPr id="2" name="Title 1">
            <a:extLst>
              <a:ext uri="{FF2B5EF4-FFF2-40B4-BE49-F238E27FC236}">
                <a16:creationId xmlns:a16="http://schemas.microsoft.com/office/drawing/2014/main" id="{FCF7BF9E-2960-82A6-0A45-DB9E04F08557}"/>
              </a:ext>
            </a:extLst>
          </p:cNvPr>
          <p:cNvSpPr>
            <a:spLocks noGrp="1"/>
          </p:cNvSpPr>
          <p:nvPr>
            <p:ph type="ctrTitle"/>
          </p:nvPr>
        </p:nvSpPr>
        <p:spPr>
          <a:xfrm>
            <a:off x="838200" y="451381"/>
            <a:ext cx="10512552" cy="4066540"/>
          </a:xfrm>
        </p:spPr>
        <p:txBody>
          <a:bodyPr anchor="b">
            <a:normAutofit/>
          </a:bodyPr>
          <a:lstStyle/>
          <a:p>
            <a:pPr algn="l"/>
            <a:r>
              <a:rPr lang="en-US" sz="6600"/>
              <a:t>Emergent Behaviours in Heterogeneous Boid Swarms of RVR and BOLT Robots</a:t>
            </a:r>
            <a:endParaRPr lang="en-AU" sz="6600" b="1"/>
          </a:p>
        </p:txBody>
      </p:sp>
      <p:sp>
        <p:nvSpPr>
          <p:cNvPr id="3" name="Subtitle 2">
            <a:extLst>
              <a:ext uri="{FF2B5EF4-FFF2-40B4-BE49-F238E27FC236}">
                <a16:creationId xmlns:a16="http://schemas.microsoft.com/office/drawing/2014/main" id="{A4F34FFC-685E-EDFD-4453-504DA3730B35}"/>
              </a:ext>
            </a:extLst>
          </p:cNvPr>
          <p:cNvSpPr>
            <a:spLocks noGrp="1"/>
          </p:cNvSpPr>
          <p:nvPr>
            <p:ph type="subTitle" idx="1"/>
          </p:nvPr>
        </p:nvSpPr>
        <p:spPr>
          <a:xfrm>
            <a:off x="838199" y="4983276"/>
            <a:ext cx="10512552" cy="1126680"/>
          </a:xfrm>
        </p:spPr>
        <p:txBody>
          <a:bodyPr>
            <a:normAutofit/>
          </a:bodyPr>
          <a:lstStyle/>
          <a:p>
            <a:pPr algn="l"/>
            <a:r>
              <a:rPr lang="en-US"/>
              <a:t>Nicholas Liu </a:t>
            </a:r>
            <a:br>
              <a:rPr lang="en-US"/>
            </a:br>
            <a:r>
              <a:rPr lang="en-US"/>
              <a:t>z5364371</a:t>
            </a:r>
            <a:endParaRPr lang="en-AU"/>
          </a:p>
          <a:p>
            <a:pPr algn="l"/>
            <a:endParaRPr lang="en-AU"/>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2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E00C38-F761-60F5-DF57-C897728AA0F3}"/>
              </a:ext>
            </a:extLst>
          </p:cNvPr>
          <p:cNvSpPr>
            <a:spLocks noGrp="1"/>
          </p:cNvSpPr>
          <p:nvPr>
            <p:ph type="title"/>
          </p:nvPr>
        </p:nvSpPr>
        <p:spPr>
          <a:xfrm>
            <a:off x="838200" y="365125"/>
            <a:ext cx="10515600" cy="1325563"/>
          </a:xfrm>
        </p:spPr>
        <p:txBody>
          <a:bodyPr>
            <a:normAutofit/>
          </a:bodyPr>
          <a:lstStyle/>
          <a:p>
            <a:r>
              <a:rPr lang="en-AU" sz="5400"/>
              <a:t>Introduction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C96BEE-D7B4-6B7C-8125-4636773A6016}"/>
              </a:ext>
            </a:extLst>
          </p:cNvPr>
          <p:cNvSpPr>
            <a:spLocks noGrp="1"/>
          </p:cNvSpPr>
          <p:nvPr>
            <p:ph idx="1"/>
          </p:nvPr>
        </p:nvSpPr>
        <p:spPr>
          <a:xfrm>
            <a:off x="838200" y="1929384"/>
            <a:ext cx="10515600" cy="4251960"/>
          </a:xfrm>
        </p:spPr>
        <p:txBody>
          <a:bodyPr>
            <a:normAutofit/>
          </a:bodyPr>
          <a:lstStyle/>
          <a:p>
            <a:r>
              <a:rPr lang="en-AU" sz="2200"/>
              <a:t>Aim: </a:t>
            </a:r>
          </a:p>
          <a:p>
            <a:pPr lvl="1"/>
            <a:r>
              <a:rPr lang="en-AU" sz="2200"/>
              <a:t>To create emergent behaviours within heterogeneous swarms of RVR and BOLT robots</a:t>
            </a:r>
          </a:p>
          <a:p>
            <a:r>
              <a:rPr lang="en-AU" sz="2200"/>
              <a:t>Significance:</a:t>
            </a:r>
          </a:p>
          <a:p>
            <a:pPr lvl="1"/>
            <a:r>
              <a:rPr lang="en-US" sz="2200"/>
              <a:t>Limited implementation of heterogeneous swarms using low cost commercially available robots</a:t>
            </a:r>
          </a:p>
          <a:p>
            <a:pPr lvl="1"/>
            <a:r>
              <a:rPr lang="en-US" sz="2200"/>
              <a:t>Formations in heterogeneous swarms are created using a top – down ‘control’ strategy vs. emergent collective behaviour</a:t>
            </a:r>
          </a:p>
          <a:p>
            <a:pPr lvl="1"/>
            <a:r>
              <a:rPr lang="en-AU" sz="2200"/>
              <a:t>Emergent behaviours shows promise in increased robustness and decreased complexity over traditional formation control techniques</a:t>
            </a:r>
          </a:p>
        </p:txBody>
      </p:sp>
    </p:spTree>
    <p:extLst>
      <p:ext uri="{BB962C8B-B14F-4D97-AF65-F5344CB8AC3E}">
        <p14:creationId xmlns:p14="http://schemas.microsoft.com/office/powerpoint/2010/main" val="36158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FFFA41-D609-03D7-80BE-61FAA4143B98}"/>
              </a:ext>
            </a:extLst>
          </p:cNvPr>
          <p:cNvSpPr>
            <a:spLocks noGrp="1"/>
          </p:cNvSpPr>
          <p:nvPr>
            <p:ph type="title"/>
          </p:nvPr>
        </p:nvSpPr>
        <p:spPr>
          <a:xfrm>
            <a:off x="838200" y="365125"/>
            <a:ext cx="10515600" cy="1325563"/>
          </a:xfrm>
        </p:spPr>
        <p:txBody>
          <a:bodyPr>
            <a:normAutofit/>
          </a:bodyPr>
          <a:lstStyle/>
          <a:p>
            <a:r>
              <a:rPr lang="en-AU" sz="5400"/>
              <a:t>Related Work</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AD9AAC-7AF6-1B6E-B943-28B3ADC32B70}"/>
              </a:ext>
            </a:extLst>
          </p:cNvPr>
          <p:cNvSpPr>
            <a:spLocks noGrp="1"/>
          </p:cNvSpPr>
          <p:nvPr>
            <p:ph idx="1"/>
          </p:nvPr>
        </p:nvSpPr>
        <p:spPr>
          <a:xfrm>
            <a:off x="838200" y="1929384"/>
            <a:ext cx="10515600" cy="4251960"/>
          </a:xfrm>
        </p:spPr>
        <p:txBody>
          <a:bodyPr>
            <a:normAutofit/>
          </a:bodyPr>
          <a:lstStyle/>
          <a:p>
            <a:r>
              <a:rPr lang="en-AU" sz="2200"/>
              <a:t>Boid Swarming</a:t>
            </a:r>
          </a:p>
          <a:p>
            <a:pPr lvl="1"/>
            <a:r>
              <a:rPr lang="en-AU" sz="2200"/>
              <a:t>Flocks, herds and schools: A distributed </a:t>
            </a:r>
            <a:r>
              <a:rPr lang="en-AU" sz="2200" err="1"/>
              <a:t>behavioral</a:t>
            </a:r>
            <a:r>
              <a:rPr lang="en-AU" sz="2200"/>
              <a:t> model – Reynolds, 1986</a:t>
            </a:r>
          </a:p>
          <a:p>
            <a:r>
              <a:rPr lang="en-AU" sz="2200"/>
              <a:t>Emergent Behaviour</a:t>
            </a:r>
          </a:p>
          <a:p>
            <a:pPr lvl="1"/>
            <a:r>
              <a:rPr lang="en-US" sz="2200" b="0" i="0">
                <a:effectLst/>
              </a:rPr>
              <a:t>Autonomous detection of collective behaviours in swarms – Khan et al, 2020</a:t>
            </a:r>
          </a:p>
          <a:p>
            <a:r>
              <a:rPr lang="en-US" sz="2200" b="0" i="0">
                <a:effectLst/>
              </a:rPr>
              <a:t>Behavioral Metrics</a:t>
            </a:r>
          </a:p>
          <a:p>
            <a:pPr lvl="1"/>
            <a:r>
              <a:rPr lang="en-US" sz="2200"/>
              <a:t>Automatic Recognition of Collective Emergent Behaviors Using Behavioral Metric – Yang et al, 2023</a:t>
            </a:r>
            <a:endParaRPr lang="en-AU" sz="2200"/>
          </a:p>
          <a:p>
            <a:endParaRPr lang="en-AU" sz="2200"/>
          </a:p>
        </p:txBody>
      </p:sp>
    </p:spTree>
    <p:extLst>
      <p:ext uri="{BB962C8B-B14F-4D97-AF65-F5344CB8AC3E}">
        <p14:creationId xmlns:p14="http://schemas.microsoft.com/office/powerpoint/2010/main" val="2904816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E46517-5F9F-26F2-9213-1F4D2D1AF2AE}"/>
              </a:ext>
            </a:extLst>
          </p:cNvPr>
          <p:cNvSpPr>
            <a:spLocks noGrp="1"/>
          </p:cNvSpPr>
          <p:nvPr>
            <p:ph type="title"/>
          </p:nvPr>
        </p:nvSpPr>
        <p:spPr>
          <a:xfrm>
            <a:off x="841248" y="548640"/>
            <a:ext cx="3600860" cy="5431536"/>
          </a:xfrm>
        </p:spPr>
        <p:txBody>
          <a:bodyPr>
            <a:normAutofit/>
          </a:bodyPr>
          <a:lstStyle/>
          <a:p>
            <a:r>
              <a:rPr lang="en-AU" sz="4200"/>
              <a:t>Heterogeneous Swarm Design Methodology</a:t>
            </a:r>
          </a:p>
        </p:txBody>
      </p:sp>
      <p:sp>
        <p:nvSpPr>
          <p:cNvPr id="47"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ontent Placeholder 2">
            <a:extLst>
              <a:ext uri="{FF2B5EF4-FFF2-40B4-BE49-F238E27FC236}">
                <a16:creationId xmlns:a16="http://schemas.microsoft.com/office/drawing/2014/main" id="{C72A8E41-E8E7-42AB-17AC-1569B1FCB7B0}"/>
              </a:ext>
            </a:extLst>
          </p:cNvPr>
          <p:cNvSpPr>
            <a:spLocks noGrp="1"/>
          </p:cNvSpPr>
          <p:nvPr>
            <p:ph idx="1"/>
          </p:nvPr>
        </p:nvSpPr>
        <p:spPr>
          <a:xfrm>
            <a:off x="5126418" y="552091"/>
            <a:ext cx="6224335" cy="5431536"/>
          </a:xfrm>
        </p:spPr>
        <p:txBody>
          <a:bodyPr anchor="ctr">
            <a:normAutofit/>
          </a:bodyPr>
          <a:lstStyle/>
          <a:p>
            <a:r>
              <a:rPr lang="en-AU" sz="2200" err="1"/>
              <a:t>Boid</a:t>
            </a:r>
            <a:r>
              <a:rPr lang="en-AU" sz="2200"/>
              <a:t> swarm, agents interact locally through separation, cohesion and alignment</a:t>
            </a:r>
          </a:p>
          <a:p>
            <a:r>
              <a:rPr lang="en-AU" sz="2200"/>
              <a:t>Centralised control framework</a:t>
            </a:r>
          </a:p>
        </p:txBody>
      </p:sp>
    </p:spTree>
    <p:extLst>
      <p:ext uri="{BB962C8B-B14F-4D97-AF65-F5344CB8AC3E}">
        <p14:creationId xmlns:p14="http://schemas.microsoft.com/office/powerpoint/2010/main" val="2202609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53B475F8-50AE-46A0-9943-B2B63183D5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F27D8E-8CEB-70C6-DA04-55E8B17203CC}"/>
              </a:ext>
            </a:extLst>
          </p:cNvPr>
          <p:cNvSpPr>
            <a:spLocks noGrp="1"/>
          </p:cNvSpPr>
          <p:nvPr>
            <p:ph type="title"/>
          </p:nvPr>
        </p:nvSpPr>
        <p:spPr>
          <a:xfrm>
            <a:off x="612648" y="365125"/>
            <a:ext cx="6986015" cy="1776484"/>
          </a:xfrm>
        </p:spPr>
        <p:txBody>
          <a:bodyPr anchor="b">
            <a:normAutofit/>
          </a:bodyPr>
          <a:lstStyle/>
          <a:p>
            <a:r>
              <a:rPr lang="en-AU" sz="5400"/>
              <a:t>Materials</a:t>
            </a:r>
          </a:p>
        </p:txBody>
      </p:sp>
      <p:pic>
        <p:nvPicPr>
          <p:cNvPr id="4" name="Picture 3" descr="A camera with a lens&#10;&#10;Description automatically generated">
            <a:extLst>
              <a:ext uri="{FF2B5EF4-FFF2-40B4-BE49-F238E27FC236}">
                <a16:creationId xmlns:a16="http://schemas.microsoft.com/office/drawing/2014/main" id="{A9CAD5DC-0F0A-7E4B-5BAB-FE19E6050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3015" y="5252782"/>
            <a:ext cx="1943330" cy="1321972"/>
          </a:xfrm>
          <a:prstGeom prst="rect">
            <a:avLst/>
          </a:prstGeom>
        </p:spPr>
      </p:pic>
      <p:sp>
        <p:nvSpPr>
          <p:cNvPr id="74" name="sketch line">
            <a:extLst>
              <a:ext uri="{FF2B5EF4-FFF2-40B4-BE49-F238E27FC236}">
                <a16:creationId xmlns:a16="http://schemas.microsoft.com/office/drawing/2014/main" id="{75F6FDB4-2351-48C2-A863-2364A0234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315691"/>
            <a:ext cx="4343400" cy="18288"/>
          </a:xfrm>
          <a:custGeom>
            <a:avLst/>
            <a:gdLst>
              <a:gd name="connsiteX0" fmla="*/ 0 w 4343400"/>
              <a:gd name="connsiteY0" fmla="*/ 0 h 18288"/>
              <a:gd name="connsiteX1" fmla="*/ 577052 w 4343400"/>
              <a:gd name="connsiteY1" fmla="*/ 0 h 18288"/>
              <a:gd name="connsiteX2" fmla="*/ 1067235 w 4343400"/>
              <a:gd name="connsiteY2" fmla="*/ 0 h 18288"/>
              <a:gd name="connsiteX3" fmla="*/ 1600853 w 4343400"/>
              <a:gd name="connsiteY3" fmla="*/ 0 h 18288"/>
              <a:gd name="connsiteX4" fmla="*/ 2264773 w 4343400"/>
              <a:gd name="connsiteY4" fmla="*/ 0 h 18288"/>
              <a:gd name="connsiteX5" fmla="*/ 2841825 w 4343400"/>
              <a:gd name="connsiteY5" fmla="*/ 0 h 18288"/>
              <a:gd name="connsiteX6" fmla="*/ 3375442 w 4343400"/>
              <a:gd name="connsiteY6" fmla="*/ 0 h 18288"/>
              <a:gd name="connsiteX7" fmla="*/ 4343400 w 4343400"/>
              <a:gd name="connsiteY7" fmla="*/ 0 h 18288"/>
              <a:gd name="connsiteX8" fmla="*/ 4343400 w 4343400"/>
              <a:gd name="connsiteY8" fmla="*/ 18288 h 18288"/>
              <a:gd name="connsiteX9" fmla="*/ 3722914 w 4343400"/>
              <a:gd name="connsiteY9" fmla="*/ 18288 h 18288"/>
              <a:gd name="connsiteX10" fmla="*/ 3189297 w 4343400"/>
              <a:gd name="connsiteY10" fmla="*/ 18288 h 18288"/>
              <a:gd name="connsiteX11" fmla="*/ 2481943 w 4343400"/>
              <a:gd name="connsiteY11" fmla="*/ 18288 h 18288"/>
              <a:gd name="connsiteX12" fmla="*/ 1904891 w 4343400"/>
              <a:gd name="connsiteY12" fmla="*/ 18288 h 18288"/>
              <a:gd name="connsiteX13" fmla="*/ 1414707 w 4343400"/>
              <a:gd name="connsiteY13" fmla="*/ 18288 h 18288"/>
              <a:gd name="connsiteX14" fmla="*/ 750788 w 4343400"/>
              <a:gd name="connsiteY14" fmla="*/ 18288 h 18288"/>
              <a:gd name="connsiteX15" fmla="*/ 0 w 4343400"/>
              <a:gd name="connsiteY15" fmla="*/ 18288 h 18288"/>
              <a:gd name="connsiteX16" fmla="*/ 0 w 43434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6097DDE1-05B1-42D2-3285-E0CAFCF7E686}"/>
              </a:ext>
            </a:extLst>
          </p:cNvPr>
          <p:cNvSpPr>
            <a:spLocks noGrp="1"/>
          </p:cNvSpPr>
          <p:nvPr>
            <p:ph idx="1"/>
          </p:nvPr>
        </p:nvSpPr>
        <p:spPr>
          <a:xfrm>
            <a:off x="612648" y="2504819"/>
            <a:ext cx="6986016" cy="3672144"/>
          </a:xfrm>
        </p:spPr>
        <p:txBody>
          <a:bodyPr>
            <a:normAutofit/>
          </a:bodyPr>
          <a:lstStyle/>
          <a:p>
            <a:r>
              <a:rPr lang="en-US" sz="2200"/>
              <a:t>RVR robot</a:t>
            </a:r>
          </a:p>
          <a:p>
            <a:pPr lvl="1"/>
            <a:r>
              <a:rPr lang="en-US" sz="2200"/>
              <a:t>Communicates with swarm controller through TCP sockets</a:t>
            </a:r>
          </a:p>
          <a:p>
            <a:r>
              <a:rPr lang="en-US" sz="2200"/>
              <a:t>BOLT robot</a:t>
            </a:r>
          </a:p>
          <a:p>
            <a:pPr lvl="1"/>
            <a:r>
              <a:rPr lang="en-US" sz="2200"/>
              <a:t>Communicates with swarm controller through Bluetooth</a:t>
            </a:r>
          </a:p>
          <a:p>
            <a:r>
              <a:rPr lang="en-US" sz="2200"/>
              <a:t>VICON motion capture cameras</a:t>
            </a:r>
          </a:p>
          <a:p>
            <a:pPr lvl="1"/>
            <a:r>
              <a:rPr lang="en-US" sz="2200"/>
              <a:t>Identifies robot locations and communicates them; acts as a local positioning system</a:t>
            </a:r>
          </a:p>
          <a:p>
            <a:pPr lvl="1"/>
            <a:endParaRPr lang="en-US" sz="1800"/>
          </a:p>
        </p:txBody>
      </p:sp>
      <p:pic>
        <p:nvPicPr>
          <p:cNvPr id="5" name="Content Placeholder 4" descr="A white cup and a round object on a table&#10;&#10;Description automatically generated">
            <a:extLst>
              <a:ext uri="{FF2B5EF4-FFF2-40B4-BE49-F238E27FC236}">
                <a16:creationId xmlns:a16="http://schemas.microsoft.com/office/drawing/2014/main" id="{1DBE85FE-81FF-187C-01CB-DC3ED513672A}"/>
              </a:ext>
            </a:extLst>
          </p:cNvPr>
          <p:cNvPicPr>
            <a:picLocks noChangeAspect="1"/>
          </p:cNvPicPr>
          <p:nvPr/>
        </p:nvPicPr>
        <p:blipFill>
          <a:blip r:embed="rId4">
            <a:extLst>
              <a:ext uri="{28A0092B-C50C-407E-A947-70E740481C1C}">
                <a14:useLocalDpi xmlns:a14="http://schemas.microsoft.com/office/drawing/2010/main" val="0"/>
              </a:ext>
            </a:extLst>
          </a:blip>
          <a:srcRect l="3189" r="442" b="-4"/>
          <a:stretch/>
        </p:blipFill>
        <p:spPr>
          <a:xfrm>
            <a:off x="9235533" y="1015008"/>
            <a:ext cx="2326247" cy="2413992"/>
          </a:xfrm>
          <a:prstGeom prst="rect">
            <a:avLst/>
          </a:prstGeom>
        </p:spPr>
      </p:pic>
      <p:pic>
        <p:nvPicPr>
          <p:cNvPr id="7" name="Picture 6" descr="A white toy vehicle with wheels&#10;&#10;Description automatically generated">
            <a:extLst>
              <a:ext uri="{FF2B5EF4-FFF2-40B4-BE49-F238E27FC236}">
                <a16:creationId xmlns:a16="http://schemas.microsoft.com/office/drawing/2014/main" id="{4314EF10-6699-1EEC-C6A3-0417FE434F79}"/>
              </a:ext>
            </a:extLst>
          </p:cNvPr>
          <p:cNvPicPr>
            <a:picLocks noChangeAspect="1"/>
          </p:cNvPicPr>
          <p:nvPr/>
        </p:nvPicPr>
        <p:blipFill>
          <a:blip r:embed="rId5">
            <a:extLst>
              <a:ext uri="{28A0092B-C50C-407E-A947-70E740481C1C}">
                <a14:useLocalDpi xmlns:a14="http://schemas.microsoft.com/office/drawing/2010/main" val="0"/>
              </a:ext>
            </a:extLst>
          </a:blip>
          <a:srcRect t="24117" r="3" b="11931"/>
          <a:stretch/>
        </p:blipFill>
        <p:spPr>
          <a:xfrm>
            <a:off x="9383015" y="3691349"/>
            <a:ext cx="2031281" cy="1299084"/>
          </a:xfrm>
          <a:prstGeom prst="rect">
            <a:avLst/>
          </a:prstGeom>
        </p:spPr>
      </p:pic>
    </p:spTree>
    <p:extLst>
      <p:ext uri="{BB962C8B-B14F-4D97-AF65-F5344CB8AC3E}">
        <p14:creationId xmlns:p14="http://schemas.microsoft.com/office/powerpoint/2010/main" val="517464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3AA4CA-30AA-9080-BF1B-0B856AD374A7}"/>
              </a:ext>
            </a:extLst>
          </p:cNvPr>
          <p:cNvSpPr>
            <a:spLocks noGrp="1"/>
          </p:cNvSpPr>
          <p:nvPr>
            <p:ph type="title"/>
          </p:nvPr>
        </p:nvSpPr>
        <p:spPr>
          <a:xfrm>
            <a:off x="640080" y="329184"/>
            <a:ext cx="6894576" cy="1783080"/>
          </a:xfrm>
        </p:spPr>
        <p:txBody>
          <a:bodyPr anchor="b">
            <a:normAutofit/>
          </a:bodyPr>
          <a:lstStyle/>
          <a:p>
            <a:r>
              <a:rPr lang="en-AU" sz="5400"/>
              <a:t>Heterogeneous Swarming Framework</a:t>
            </a: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11AEBB1C-9ECF-9DD0-0D46-BC1F9DC9A55D}"/>
              </a:ext>
            </a:extLst>
          </p:cNvPr>
          <p:cNvSpPr>
            <a:spLocks noGrp="1"/>
          </p:cNvSpPr>
          <p:nvPr>
            <p:ph idx="1"/>
          </p:nvPr>
        </p:nvSpPr>
        <p:spPr>
          <a:xfrm>
            <a:off x="640080" y="2706624"/>
            <a:ext cx="6894576" cy="3483864"/>
          </a:xfrm>
        </p:spPr>
        <p:txBody>
          <a:bodyPr>
            <a:normAutofit/>
          </a:bodyPr>
          <a:lstStyle/>
          <a:p>
            <a:r>
              <a:rPr lang="en-AU" sz="2600"/>
              <a:t>Central swarm controller calculates and updates each agent with new velocities</a:t>
            </a:r>
          </a:p>
          <a:p>
            <a:r>
              <a:rPr lang="en-AU" sz="2600"/>
              <a:t>Agents are individually passed class specific instructions by swarm controller</a:t>
            </a:r>
          </a:p>
          <a:p>
            <a:r>
              <a:rPr lang="en-AU" sz="2600"/>
              <a:t>RVR uses RVR Script.py to listen for TCP socket commands</a:t>
            </a:r>
          </a:p>
          <a:p>
            <a:r>
              <a:rPr lang="en-AU" sz="2600"/>
              <a:t>BOLT uses bleak library to directly interface with the </a:t>
            </a:r>
          </a:p>
        </p:txBody>
      </p:sp>
      <p:pic>
        <p:nvPicPr>
          <p:cNvPr id="8" name="Picture 7" descr="A diagram of a network&#10;&#10;Description automatically generated">
            <a:extLst>
              <a:ext uri="{FF2B5EF4-FFF2-40B4-BE49-F238E27FC236}">
                <a16:creationId xmlns:a16="http://schemas.microsoft.com/office/drawing/2014/main" id="{8259F994-0853-1643-F4F0-63B400E95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8539" y="2036296"/>
            <a:ext cx="4126530" cy="2785408"/>
          </a:xfrm>
          <a:prstGeom prst="rect">
            <a:avLst/>
          </a:prstGeom>
        </p:spPr>
      </p:pic>
    </p:spTree>
    <p:extLst>
      <p:ext uri="{BB962C8B-B14F-4D97-AF65-F5344CB8AC3E}">
        <p14:creationId xmlns:p14="http://schemas.microsoft.com/office/powerpoint/2010/main" val="1573325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9A5999-B199-3AA1-7256-0B5D37C3D480}"/>
              </a:ext>
            </a:extLst>
          </p:cNvPr>
          <p:cNvSpPr>
            <a:spLocks noGrp="1"/>
          </p:cNvSpPr>
          <p:nvPr>
            <p:ph type="title"/>
          </p:nvPr>
        </p:nvSpPr>
        <p:spPr>
          <a:xfrm>
            <a:off x="572493" y="238539"/>
            <a:ext cx="11018520" cy="1434415"/>
          </a:xfrm>
        </p:spPr>
        <p:txBody>
          <a:bodyPr anchor="b">
            <a:normAutofit/>
          </a:bodyPr>
          <a:lstStyle/>
          <a:p>
            <a:r>
              <a:rPr lang="en-AU" sz="5400"/>
              <a:t>Experimental Methodology</a:t>
            </a:r>
          </a:p>
        </p:txBody>
      </p:sp>
      <p:sp>
        <p:nvSpPr>
          <p:cNvPr id="2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3B8E095-7A61-C06B-FAD0-1FF53794B054}"/>
              </a:ext>
            </a:extLst>
          </p:cNvPr>
          <p:cNvSpPr>
            <a:spLocks noGrp="1"/>
          </p:cNvSpPr>
          <p:nvPr>
            <p:ph idx="1"/>
          </p:nvPr>
        </p:nvSpPr>
        <p:spPr>
          <a:xfrm>
            <a:off x="572493" y="2071316"/>
            <a:ext cx="6713552" cy="4119172"/>
          </a:xfrm>
        </p:spPr>
        <p:txBody>
          <a:bodyPr anchor="t">
            <a:normAutofit/>
          </a:bodyPr>
          <a:lstStyle/>
          <a:p>
            <a:r>
              <a:rPr lang="en-AU" sz="2200"/>
              <a:t>Environmental setup is shown in the figure (right)</a:t>
            </a:r>
            <a:endParaRPr lang="en-AU" sz="1800"/>
          </a:p>
          <a:p>
            <a:r>
              <a:rPr lang="en-AU" sz="2200"/>
              <a:t>Validation tests conducted</a:t>
            </a:r>
          </a:p>
          <a:p>
            <a:pPr lvl="1"/>
            <a:r>
              <a:rPr lang="en-AU" sz="2200"/>
              <a:t>BOLT swarm</a:t>
            </a:r>
          </a:p>
          <a:p>
            <a:pPr lvl="1"/>
            <a:r>
              <a:rPr lang="en-AU" sz="2200"/>
              <a:t>RVR swarm</a:t>
            </a:r>
          </a:p>
          <a:p>
            <a:pPr lvl="1"/>
            <a:r>
              <a:rPr lang="en-AU" sz="2200"/>
              <a:t>Heterogeneous test swarm</a:t>
            </a:r>
          </a:p>
          <a:p>
            <a:r>
              <a:rPr lang="en-AU" sz="2200"/>
              <a:t>Four unique behaviours studied</a:t>
            </a:r>
          </a:p>
          <a:p>
            <a:pPr lvl="1"/>
            <a:r>
              <a:rPr lang="en-AU" sz="2200"/>
              <a:t>Flocking</a:t>
            </a:r>
          </a:p>
          <a:p>
            <a:pPr lvl="1"/>
            <a:r>
              <a:rPr lang="en-AU" sz="2200"/>
              <a:t>Lines</a:t>
            </a:r>
          </a:p>
          <a:p>
            <a:pPr lvl="1"/>
            <a:r>
              <a:rPr lang="en-AU" sz="2200"/>
              <a:t>Gravity</a:t>
            </a:r>
          </a:p>
          <a:p>
            <a:pPr lvl="1"/>
            <a:r>
              <a:rPr lang="en-AU" sz="2200"/>
              <a:t>Random (control)</a:t>
            </a:r>
          </a:p>
          <a:p>
            <a:pPr lvl="1"/>
            <a:endParaRPr lang="en-AU" sz="2200"/>
          </a:p>
        </p:txBody>
      </p:sp>
      <p:pic>
        <p:nvPicPr>
          <p:cNvPr id="9" name="Content Placeholder 3" descr="Two small toy cars on a carpet&#10;&#10;Description automatically generated">
            <a:extLst>
              <a:ext uri="{FF2B5EF4-FFF2-40B4-BE49-F238E27FC236}">
                <a16:creationId xmlns:a16="http://schemas.microsoft.com/office/drawing/2014/main" id="{903353B5-84BC-9F10-58E2-215CD46E2218}"/>
              </a:ext>
            </a:extLst>
          </p:cNvPr>
          <p:cNvPicPr>
            <a:picLocks noChangeAspect="1"/>
          </p:cNvPicPr>
          <p:nvPr/>
        </p:nvPicPr>
        <p:blipFill>
          <a:blip r:embed="rId3">
            <a:extLst>
              <a:ext uri="{28A0092B-C50C-407E-A947-70E740481C1C}">
                <a14:useLocalDpi xmlns:a14="http://schemas.microsoft.com/office/drawing/2010/main" val="0"/>
              </a:ext>
            </a:extLst>
          </a:blip>
          <a:srcRect r="3792" b="-3"/>
          <a:stretch/>
        </p:blipFill>
        <p:spPr>
          <a:xfrm>
            <a:off x="7675658" y="2093976"/>
            <a:ext cx="3941064" cy="4096512"/>
          </a:xfrm>
          <a:prstGeom prst="rect">
            <a:avLst/>
          </a:prstGeom>
        </p:spPr>
      </p:pic>
    </p:spTree>
    <p:extLst>
      <p:ext uri="{BB962C8B-B14F-4D97-AF65-F5344CB8AC3E}">
        <p14:creationId xmlns:p14="http://schemas.microsoft.com/office/powerpoint/2010/main" val="6954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EB591-A705-ACFE-BB7A-B0699ACEC045}"/>
              </a:ext>
            </a:extLst>
          </p:cNvPr>
          <p:cNvSpPr>
            <a:spLocks noGrp="1"/>
          </p:cNvSpPr>
          <p:nvPr>
            <p:ph type="title"/>
          </p:nvPr>
        </p:nvSpPr>
        <p:spPr>
          <a:xfrm>
            <a:off x="572493" y="238539"/>
            <a:ext cx="11018520" cy="1434415"/>
          </a:xfrm>
        </p:spPr>
        <p:txBody>
          <a:bodyPr anchor="b">
            <a:normAutofit/>
          </a:bodyPr>
          <a:lstStyle/>
          <a:p>
            <a:r>
              <a:rPr lang="en-AU" sz="5400"/>
              <a:t>Parameter Tuning</a:t>
            </a:r>
          </a:p>
        </p:txBody>
      </p:sp>
      <p:sp>
        <p:nvSpPr>
          <p:cNvPr id="1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416B55C-C3D5-72B2-293B-81DBE03D40C8}"/>
              </a:ext>
            </a:extLst>
          </p:cNvPr>
          <p:cNvGraphicFramePr>
            <a:graphicFrameLocks noGrp="1"/>
          </p:cNvGraphicFramePr>
          <p:nvPr>
            <p:ph idx="1"/>
            <p:extLst>
              <p:ext uri="{D42A27DB-BD31-4B8C-83A1-F6EECF244321}">
                <p14:modId xmlns:p14="http://schemas.microsoft.com/office/powerpoint/2010/main" val="1897364247"/>
              </p:ext>
            </p:extLst>
          </p:nvPr>
        </p:nvGraphicFramePr>
        <p:xfrm>
          <a:off x="585216" y="2117885"/>
          <a:ext cx="11018520"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6204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98C4EB-089F-00F9-CBA1-14A70C84EB79}"/>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a:t>Parameter Setup</a:t>
            </a:r>
          </a:p>
        </p:txBody>
      </p:sp>
      <p:sp>
        <p:nvSpPr>
          <p:cNvPr id="27"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Content Placeholder 20">
            <a:extLst>
              <a:ext uri="{FF2B5EF4-FFF2-40B4-BE49-F238E27FC236}">
                <a16:creationId xmlns:a16="http://schemas.microsoft.com/office/drawing/2014/main" id="{D83059D7-92AE-A7D9-8233-BF67C765C065}"/>
              </a:ext>
            </a:extLst>
          </p:cNvPr>
          <p:cNvPicPr>
            <a:picLocks noChangeAspect="1"/>
          </p:cNvPicPr>
          <p:nvPr/>
        </p:nvPicPr>
        <p:blipFill>
          <a:blip r:embed="rId3"/>
          <a:stretch>
            <a:fillRect/>
          </a:stretch>
        </p:blipFill>
        <p:spPr>
          <a:xfrm>
            <a:off x="4556760" y="1874847"/>
            <a:ext cx="6894576" cy="3102558"/>
          </a:xfrm>
          <a:prstGeom prst="rect">
            <a:avLst/>
          </a:prstGeom>
        </p:spPr>
      </p:pic>
    </p:spTree>
    <p:extLst>
      <p:ext uri="{BB962C8B-B14F-4D97-AF65-F5344CB8AC3E}">
        <p14:creationId xmlns:p14="http://schemas.microsoft.com/office/powerpoint/2010/main" val="2413894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A0D1C4-1483-E37F-977D-E02DA92EB4A6}"/>
              </a:ext>
            </a:extLst>
          </p:cNvPr>
          <p:cNvSpPr>
            <a:spLocks noGrp="1"/>
          </p:cNvSpPr>
          <p:nvPr>
            <p:ph type="title"/>
          </p:nvPr>
        </p:nvSpPr>
        <p:spPr>
          <a:xfrm>
            <a:off x="838200" y="365125"/>
            <a:ext cx="10515600" cy="1325563"/>
          </a:xfrm>
        </p:spPr>
        <p:txBody>
          <a:bodyPr>
            <a:normAutofit/>
          </a:bodyPr>
          <a:lstStyle/>
          <a:p>
            <a:r>
              <a:rPr lang="en-AU" sz="5400"/>
              <a:t>Results Analysis</a:t>
            </a:r>
          </a:p>
        </p:txBody>
      </p:sp>
      <p:sp>
        <p:nvSpPr>
          <p:cNvPr id="4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Content Placeholder 2">
                <a:extLst>
                  <a:ext uri="{FF2B5EF4-FFF2-40B4-BE49-F238E27FC236}">
                    <a16:creationId xmlns:a16="http://schemas.microsoft.com/office/drawing/2014/main" id="{9653E8F9-FA75-0023-BF4A-B353A4EB95EC}"/>
                  </a:ext>
                </a:extLst>
              </p:cNvPr>
              <p:cNvSpPr>
                <a:spLocks noGrp="1"/>
              </p:cNvSpPr>
              <p:nvPr>
                <p:ph idx="1"/>
              </p:nvPr>
            </p:nvSpPr>
            <p:spPr>
              <a:xfrm>
                <a:off x="838200" y="1929384"/>
                <a:ext cx="10515600" cy="4251960"/>
              </a:xfrm>
            </p:spPr>
            <p:txBody>
              <a:bodyPr>
                <a:normAutofit/>
              </a:bodyPr>
              <a:lstStyle/>
              <a:p>
                <a:r>
                  <a:rPr lang="en-AU" sz="2200"/>
                  <a:t>Swarms location data collected via VICON and analysed through metrics</a:t>
                </a:r>
              </a:p>
              <a:p>
                <a:r>
                  <a:rPr lang="en-AU" sz="2200"/>
                  <a:t>Metrics used:</a:t>
                </a:r>
              </a:p>
              <a:p>
                <a:pPr lvl="1"/>
                <a:r>
                  <a:rPr lang="en-AU" sz="2200" b="1"/>
                  <a:t>Grouping</a:t>
                </a:r>
                <a:r>
                  <a:rPr lang="en-AU" sz="2200"/>
                  <a:t> – measure of average separation between swarm member</a:t>
                </a:r>
              </a:p>
              <a:p>
                <a:pPr marL="457200" lvl="1" indent="0">
                  <a:buNone/>
                </a:pPr>
                <a14:m>
                  <m:oMathPara xmlns:m="http://schemas.openxmlformats.org/officeDocument/2006/math">
                    <m:oMathParaPr>
                      <m:jc m:val="centerGroup"/>
                    </m:oMathParaPr>
                    <m:oMath xmlns:m="http://schemas.openxmlformats.org/officeDocument/2006/math">
                      <m:sSub>
                        <m:sSubPr>
                          <m:ctrlPr>
                            <a:rPr lang="en-AU" sz="2200" i="1" smtClean="0">
                              <a:latin typeface="Cambria Math" panose="02040503050406030204" pitchFamily="18" charset="0"/>
                            </a:rPr>
                          </m:ctrlPr>
                        </m:sSubPr>
                        <m:e>
                          <m:r>
                            <a:rPr lang="en-AU" sz="2200" i="1">
                              <a:latin typeface="Cambria Math" panose="02040503050406030204" pitchFamily="18" charset="0"/>
                            </a:rPr>
                            <m:t>𝑠</m:t>
                          </m:r>
                        </m:e>
                        <m:sub>
                          <m:r>
                            <a:rPr lang="en-AU" sz="2200" i="1">
                              <a:latin typeface="Cambria Math" panose="02040503050406030204" pitchFamily="18" charset="0"/>
                            </a:rPr>
                            <m:t>𝑖</m:t>
                          </m:r>
                        </m:sub>
                      </m:sSub>
                      <m:r>
                        <a:rPr lang="en-AU" sz="2200" i="1">
                          <a:latin typeface="Cambria Math" panose="02040503050406030204" pitchFamily="18" charset="0"/>
                        </a:rPr>
                        <m:t>=</m:t>
                      </m:r>
                      <m:f>
                        <m:fPr>
                          <m:ctrlPr>
                            <a:rPr lang="en-AU" sz="2200" b="0" i="1" smtClean="0">
                              <a:latin typeface="Cambria Math" panose="02040503050406030204" pitchFamily="18" charset="0"/>
                            </a:rPr>
                          </m:ctrlPr>
                        </m:fPr>
                        <m:num>
                          <m:r>
                            <a:rPr lang="en-AU" sz="2200" b="0" i="1" smtClean="0">
                              <a:latin typeface="Cambria Math" panose="02040503050406030204" pitchFamily="18" charset="0"/>
                            </a:rPr>
                            <m:t>1</m:t>
                          </m:r>
                        </m:num>
                        <m:den>
                          <m:r>
                            <a:rPr lang="en-AU" sz="2200" b="0" i="1" smtClean="0">
                              <a:latin typeface="Cambria Math" panose="02040503050406030204" pitchFamily="18" charset="0"/>
                            </a:rPr>
                            <m:t>𝑛</m:t>
                          </m:r>
                          <m:r>
                            <a:rPr lang="en-AU" sz="2200" b="0" i="1" smtClean="0">
                              <a:latin typeface="Cambria Math" panose="02040503050406030204" pitchFamily="18" charset="0"/>
                            </a:rPr>
                            <m:t>−1</m:t>
                          </m:r>
                        </m:den>
                      </m:f>
                      <m:nary>
                        <m:naryPr>
                          <m:chr m:val="∑"/>
                          <m:ctrlPr>
                            <a:rPr lang="en-AU" sz="2200" i="1" smtClean="0">
                              <a:latin typeface="Cambria Math" panose="02040503050406030204" pitchFamily="18" charset="0"/>
                            </a:rPr>
                          </m:ctrlPr>
                        </m:naryPr>
                        <m:sub>
                          <m:r>
                            <a:rPr lang="en-AU" sz="2200" b="0" i="1" smtClean="0">
                              <a:latin typeface="Cambria Math" panose="02040503050406030204" pitchFamily="18" charset="0"/>
                            </a:rPr>
                            <m:t>𝑗</m:t>
                          </m:r>
                          <m:r>
                            <a:rPr lang="en-AU" sz="2200" b="0" i="1" smtClean="0">
                              <a:latin typeface="Cambria Math" panose="02040503050406030204" pitchFamily="18" charset="0"/>
                            </a:rPr>
                            <m:t>=1</m:t>
                          </m:r>
                        </m:sub>
                        <m:sup>
                          <m:r>
                            <a:rPr lang="en-AU" sz="2200" b="0" i="1" smtClean="0">
                              <a:latin typeface="Cambria Math" panose="02040503050406030204" pitchFamily="18" charset="0"/>
                            </a:rPr>
                            <m:t>𝑛</m:t>
                          </m:r>
                        </m:sup>
                        <m:e>
                          <m:d>
                            <m:dPr>
                              <m:begChr m:val="|"/>
                              <m:endChr m:val="|"/>
                              <m:ctrlPr>
                                <a:rPr lang="en-AU" sz="2200" i="1">
                                  <a:latin typeface="Cambria Math" panose="02040503050406030204" pitchFamily="18" charset="0"/>
                                </a:rPr>
                              </m:ctrlPr>
                            </m:dPr>
                            <m:e>
                              <m:sSub>
                                <m:sSubPr>
                                  <m:ctrlPr>
                                    <a:rPr lang="en-AU" sz="2200" i="1">
                                      <a:latin typeface="Cambria Math" panose="02040503050406030204" pitchFamily="18" charset="0"/>
                                    </a:rPr>
                                  </m:ctrlPr>
                                </m:sSubPr>
                                <m:e>
                                  <m:r>
                                    <a:rPr lang="en-AU" sz="2200" i="1">
                                      <a:latin typeface="Cambria Math" panose="02040503050406030204" pitchFamily="18" charset="0"/>
                                    </a:rPr>
                                    <m:t>𝑏</m:t>
                                  </m:r>
                                </m:e>
                                <m:sub>
                                  <m:r>
                                    <a:rPr lang="en-AU" sz="2200" i="1">
                                      <a:latin typeface="Cambria Math" panose="02040503050406030204" pitchFamily="18" charset="0"/>
                                    </a:rPr>
                                    <m:t>𝑖</m:t>
                                  </m:r>
                                </m:sub>
                              </m:sSub>
                              <m:r>
                                <a:rPr lang="en-AU" sz="2200" i="1">
                                  <a:latin typeface="Cambria Math" panose="02040503050406030204" pitchFamily="18" charset="0"/>
                                </a:rPr>
                                <m:t>, </m:t>
                              </m:r>
                              <m:sSub>
                                <m:sSubPr>
                                  <m:ctrlPr>
                                    <a:rPr lang="en-AU" sz="2200" i="1">
                                      <a:latin typeface="Cambria Math" panose="02040503050406030204" pitchFamily="18" charset="0"/>
                                    </a:rPr>
                                  </m:ctrlPr>
                                </m:sSubPr>
                                <m:e>
                                  <m:r>
                                    <a:rPr lang="en-AU" sz="2200" i="1">
                                      <a:latin typeface="Cambria Math" panose="02040503050406030204" pitchFamily="18" charset="0"/>
                                    </a:rPr>
                                    <m:t>𝑏</m:t>
                                  </m:r>
                                </m:e>
                                <m:sub>
                                  <m:r>
                                    <a:rPr lang="en-AU" sz="2200" i="1">
                                      <a:latin typeface="Cambria Math" panose="02040503050406030204" pitchFamily="18" charset="0"/>
                                    </a:rPr>
                                    <m:t>𝑗</m:t>
                                  </m:r>
                                </m:sub>
                              </m:sSub>
                            </m:e>
                          </m:d>
                        </m:e>
                      </m:nary>
                    </m:oMath>
                  </m:oMathPara>
                </a14:m>
                <a:endParaRPr lang="en-AU" sz="2200"/>
              </a:p>
              <a:p>
                <a:pPr lvl="1"/>
                <a:r>
                  <a:rPr lang="en-AU" sz="2200" b="1"/>
                  <a:t>Order</a:t>
                </a:r>
                <a:r>
                  <a:rPr lang="en-AU" sz="2200"/>
                  <a:t> – measure of average alignment between swarm members</a:t>
                </a:r>
              </a:p>
              <a:p>
                <a:pPr marL="457200" lvl="1" indent="0">
                  <a:buNone/>
                </a:pPr>
                <a14:m>
                  <m:oMathPara xmlns:m="http://schemas.openxmlformats.org/officeDocument/2006/math">
                    <m:oMathParaPr>
                      <m:jc m:val="centerGroup"/>
                    </m:oMathParaPr>
                    <m:oMath xmlns:m="http://schemas.openxmlformats.org/officeDocument/2006/math">
                      <m:r>
                        <a:rPr lang="en-AU" sz="2200" i="1">
                          <a:latin typeface="Cambria Math" panose="02040503050406030204" pitchFamily="18" charset="0"/>
                        </a:rPr>
                        <m:t>𝑂𝑟𝑑𝑒𝑟</m:t>
                      </m:r>
                      <m:r>
                        <a:rPr lang="en-AU" sz="2200" i="1">
                          <a:latin typeface="Cambria Math" panose="02040503050406030204" pitchFamily="18" charset="0"/>
                        </a:rPr>
                        <m:t> =</m:t>
                      </m:r>
                      <m:f>
                        <m:fPr>
                          <m:ctrlPr>
                            <a:rPr lang="en-AU" sz="2200" i="1">
                              <a:latin typeface="Cambria Math" panose="02040503050406030204" pitchFamily="18" charset="0"/>
                            </a:rPr>
                          </m:ctrlPr>
                        </m:fPr>
                        <m:num>
                          <m:r>
                            <a:rPr lang="en-AU" sz="2200" i="1">
                              <a:latin typeface="Cambria Math" panose="02040503050406030204" pitchFamily="18" charset="0"/>
                            </a:rPr>
                            <m:t>1</m:t>
                          </m:r>
                        </m:num>
                        <m:den>
                          <m:r>
                            <a:rPr lang="en-AU" sz="2200" i="1">
                              <a:latin typeface="Cambria Math" panose="02040503050406030204" pitchFamily="18" charset="0"/>
                            </a:rPr>
                            <m:t>𝑛</m:t>
                          </m:r>
                        </m:den>
                      </m:f>
                      <m:d>
                        <m:dPr>
                          <m:begChr m:val="|"/>
                          <m:endChr m:val="|"/>
                          <m:ctrlPr>
                            <a:rPr lang="en-AU" sz="2200" b="0" i="1" smtClean="0">
                              <a:latin typeface="Cambria Math" panose="02040503050406030204" pitchFamily="18" charset="0"/>
                            </a:rPr>
                          </m:ctrlPr>
                        </m:dPr>
                        <m:e>
                          <m:nary>
                            <m:naryPr>
                              <m:chr m:val="∑"/>
                              <m:ctrlPr>
                                <a:rPr lang="en-AU" sz="2200" i="1">
                                  <a:latin typeface="Cambria Math" panose="02040503050406030204" pitchFamily="18" charset="0"/>
                                </a:rPr>
                              </m:ctrlPr>
                            </m:naryPr>
                            <m:sub>
                              <m:r>
                                <a:rPr lang="en-AU" sz="2200" i="1">
                                  <a:latin typeface="Cambria Math" panose="02040503050406030204" pitchFamily="18" charset="0"/>
                                </a:rPr>
                                <m:t>𝑖</m:t>
                              </m:r>
                              <m:r>
                                <a:rPr lang="en-AU" sz="2200" i="1">
                                  <a:latin typeface="Cambria Math" panose="02040503050406030204" pitchFamily="18" charset="0"/>
                                </a:rPr>
                                <m:t>=1</m:t>
                              </m:r>
                            </m:sub>
                            <m:sup>
                              <m:r>
                                <a:rPr lang="en-AU" sz="2200" i="1">
                                  <a:latin typeface="Cambria Math" panose="02040503050406030204" pitchFamily="18" charset="0"/>
                                </a:rPr>
                                <m:t>𝑛</m:t>
                              </m:r>
                            </m:sup>
                            <m:e>
                              <m:sSub>
                                <m:sSubPr>
                                  <m:ctrlPr>
                                    <a:rPr lang="en-AU" sz="2200" i="1">
                                      <a:latin typeface="Cambria Math" panose="02040503050406030204" pitchFamily="18" charset="0"/>
                                    </a:rPr>
                                  </m:ctrlPr>
                                </m:sSubPr>
                                <m:e>
                                  <m:r>
                                    <a:rPr lang="en-AU" sz="2200" i="1">
                                      <a:latin typeface="Cambria Math" panose="02040503050406030204" pitchFamily="18" charset="0"/>
                                    </a:rPr>
                                    <m:t>𝑣</m:t>
                                  </m:r>
                                </m:e>
                                <m:sub>
                                  <m:r>
                                    <a:rPr lang="en-AU" sz="2200" i="1">
                                      <a:latin typeface="Cambria Math" panose="02040503050406030204" pitchFamily="18" charset="0"/>
                                    </a:rPr>
                                    <m:t>𝑖</m:t>
                                  </m:r>
                                </m:sub>
                              </m:sSub>
                            </m:e>
                          </m:nary>
                        </m:e>
                      </m:d>
                    </m:oMath>
                  </m:oMathPara>
                </a14:m>
                <a:endParaRPr lang="en-AU" sz="2200" b="1"/>
              </a:p>
              <a:p>
                <a:pPr lvl="1"/>
                <a:r>
                  <a:rPr lang="en-AU" sz="2200" b="1"/>
                  <a:t>Subgroup</a:t>
                </a:r>
                <a:r>
                  <a:rPr lang="en-AU" sz="2200"/>
                  <a:t> </a:t>
                </a:r>
                <a:r>
                  <a:rPr lang="en-AU" sz="2200" b="1"/>
                  <a:t>Count</a:t>
                </a:r>
                <a:r>
                  <a:rPr lang="en-AU" sz="2200"/>
                  <a:t> – measure of clusters of swarm members</a:t>
                </a:r>
              </a:p>
              <a:p>
                <a:pPr marL="457200" lvl="1" indent="0">
                  <a:buNone/>
                </a:pPr>
                <a:endParaRPr lang="en-AU" sz="2200"/>
              </a:p>
              <a:p>
                <a:pPr lvl="1"/>
                <a:endParaRPr lang="en-AU" sz="2200"/>
              </a:p>
              <a:p>
                <a:endParaRPr lang="en-AU" sz="2600"/>
              </a:p>
              <a:p>
                <a:pPr marL="0" indent="0">
                  <a:buNone/>
                </a:pPr>
                <a:endParaRPr lang="en-AU" sz="2600"/>
              </a:p>
            </p:txBody>
          </p:sp>
        </mc:Choice>
        <mc:Fallback xmlns="">
          <p:sp>
            <p:nvSpPr>
              <p:cNvPr id="41" name="Content Placeholder 2">
                <a:extLst>
                  <a:ext uri="{FF2B5EF4-FFF2-40B4-BE49-F238E27FC236}">
                    <a16:creationId xmlns:a16="http://schemas.microsoft.com/office/drawing/2014/main" id="{9653E8F9-FA75-0023-BF4A-B353A4EB95EC}"/>
                  </a:ext>
                </a:extLst>
              </p:cNvPr>
              <p:cNvSpPr>
                <a:spLocks noGrp="1" noRot="1" noChangeAspect="1" noMove="1" noResize="1" noEditPoints="1" noAdjustHandles="1" noChangeArrowheads="1" noChangeShapeType="1" noTextEdit="1"/>
              </p:cNvSpPr>
              <p:nvPr>
                <p:ph idx="1"/>
              </p:nvPr>
            </p:nvSpPr>
            <p:spPr>
              <a:xfrm>
                <a:off x="838200" y="1929384"/>
                <a:ext cx="10515600" cy="4251960"/>
              </a:xfrm>
              <a:blipFill>
                <a:blip r:embed="rId3"/>
                <a:stretch>
                  <a:fillRect l="-696" t="-1865"/>
                </a:stretch>
              </a:blipFill>
            </p:spPr>
            <p:txBody>
              <a:bodyPr/>
              <a:lstStyle/>
              <a:p>
                <a:r>
                  <a:rPr lang="en-US">
                    <a:noFill/>
                  </a:rPr>
                  <a:t> </a:t>
                </a:r>
              </a:p>
            </p:txBody>
          </p:sp>
        </mc:Fallback>
      </mc:AlternateContent>
    </p:spTree>
    <p:extLst>
      <p:ext uri="{BB962C8B-B14F-4D97-AF65-F5344CB8AC3E}">
        <p14:creationId xmlns:p14="http://schemas.microsoft.com/office/powerpoint/2010/main" val="3300860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016B9-EFD7-2C0A-65AA-F7E7AAED55A6}"/>
              </a:ext>
            </a:extLst>
          </p:cNvPr>
          <p:cNvSpPr>
            <a:spLocks noGrp="1"/>
          </p:cNvSpPr>
          <p:nvPr>
            <p:ph type="title"/>
          </p:nvPr>
        </p:nvSpPr>
        <p:spPr>
          <a:xfrm>
            <a:off x="630936" y="457200"/>
            <a:ext cx="4343400" cy="1929384"/>
          </a:xfrm>
        </p:spPr>
        <p:txBody>
          <a:bodyPr anchor="ctr">
            <a:normAutofit/>
          </a:bodyPr>
          <a:lstStyle/>
          <a:p>
            <a:r>
              <a:rPr lang="en-AU" sz="4800"/>
              <a:t>Random Study (control)</a:t>
            </a:r>
          </a:p>
        </p:txBody>
      </p:sp>
      <p:sp>
        <p:nvSpPr>
          <p:cNvPr id="1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12">
            <a:extLst>
              <a:ext uri="{FF2B5EF4-FFF2-40B4-BE49-F238E27FC236}">
                <a16:creationId xmlns:a16="http://schemas.microsoft.com/office/drawing/2014/main" id="{67D465F1-B62F-423B-022B-34A6B4B318B3}"/>
              </a:ext>
            </a:extLst>
          </p:cNvPr>
          <p:cNvSpPr>
            <a:spLocks noGrp="1"/>
          </p:cNvSpPr>
          <p:nvPr>
            <p:ph idx="1"/>
          </p:nvPr>
        </p:nvSpPr>
        <p:spPr>
          <a:xfrm>
            <a:off x="5541263" y="457200"/>
            <a:ext cx="6007608" cy="1929384"/>
          </a:xfrm>
        </p:spPr>
        <p:txBody>
          <a:bodyPr anchor="ctr">
            <a:normAutofit/>
          </a:bodyPr>
          <a:lstStyle/>
          <a:p>
            <a:r>
              <a:rPr lang="en-US" sz="2200"/>
              <a:t>Is used as a control as this swarm has no weights and no radii, resulting in purely just wall bouncing </a:t>
            </a:r>
            <a:r>
              <a:rPr lang="en-US" sz="2200" err="1"/>
              <a:t>behaviour</a:t>
            </a:r>
            <a:r>
              <a:rPr lang="en-US" sz="2200"/>
              <a:t> (no swarming)</a:t>
            </a:r>
          </a:p>
        </p:txBody>
      </p:sp>
      <p:pic>
        <p:nvPicPr>
          <p:cNvPr id="8" name="Content Placeholder 7">
            <a:extLst>
              <a:ext uri="{FF2B5EF4-FFF2-40B4-BE49-F238E27FC236}">
                <a16:creationId xmlns:a16="http://schemas.microsoft.com/office/drawing/2014/main" id="{87754165-648B-8883-19BB-8C6CAB20323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03273" y="2386584"/>
            <a:ext cx="2729383" cy="4094075"/>
          </a:xfrm>
          <a:prstGeom prst="rect">
            <a:avLst/>
          </a:prstGeom>
        </p:spPr>
      </p:pic>
      <p:pic>
        <p:nvPicPr>
          <p:cNvPr id="5" name="Random">
            <a:hlinkClick r:id="" action="ppaction://media"/>
            <a:extLst>
              <a:ext uri="{FF2B5EF4-FFF2-40B4-BE49-F238E27FC236}">
                <a16:creationId xmlns:a16="http://schemas.microsoft.com/office/drawing/2014/main" id="{EDA14F05-2A25-D7DB-5A3A-F1FC7288330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35929" y="2721864"/>
            <a:ext cx="4905249" cy="3678936"/>
          </a:xfrm>
          <a:prstGeom prst="rect">
            <a:avLst/>
          </a:prstGeom>
        </p:spPr>
      </p:pic>
    </p:spTree>
    <p:extLst>
      <p:ext uri="{BB962C8B-B14F-4D97-AF65-F5344CB8AC3E}">
        <p14:creationId xmlns:p14="http://schemas.microsoft.com/office/powerpoint/2010/main" val="30726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016B9-EFD7-2C0A-65AA-F7E7AAED55A6}"/>
              </a:ext>
            </a:extLst>
          </p:cNvPr>
          <p:cNvSpPr>
            <a:spLocks noGrp="1"/>
          </p:cNvSpPr>
          <p:nvPr>
            <p:ph type="title"/>
          </p:nvPr>
        </p:nvSpPr>
        <p:spPr>
          <a:xfrm>
            <a:off x="630936" y="457200"/>
            <a:ext cx="4343400" cy="1929384"/>
          </a:xfrm>
        </p:spPr>
        <p:txBody>
          <a:bodyPr anchor="ctr">
            <a:normAutofit/>
          </a:bodyPr>
          <a:lstStyle/>
          <a:p>
            <a:r>
              <a:rPr lang="en-AU" sz="4800"/>
              <a:t>Flocking Study</a:t>
            </a:r>
          </a:p>
        </p:txBody>
      </p:sp>
      <p:sp>
        <p:nvSpPr>
          <p:cNvPr id="1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12">
            <a:extLst>
              <a:ext uri="{FF2B5EF4-FFF2-40B4-BE49-F238E27FC236}">
                <a16:creationId xmlns:a16="http://schemas.microsoft.com/office/drawing/2014/main" id="{67D465F1-B62F-423B-022B-34A6B4B318B3}"/>
              </a:ext>
            </a:extLst>
          </p:cNvPr>
          <p:cNvSpPr>
            <a:spLocks noGrp="1"/>
          </p:cNvSpPr>
          <p:nvPr>
            <p:ph idx="1"/>
          </p:nvPr>
        </p:nvSpPr>
        <p:spPr>
          <a:xfrm>
            <a:off x="5541263" y="457200"/>
            <a:ext cx="6007608" cy="1929384"/>
          </a:xfrm>
        </p:spPr>
        <p:txBody>
          <a:bodyPr anchor="ctr">
            <a:normAutofit/>
          </a:bodyPr>
          <a:lstStyle/>
          <a:p>
            <a:r>
              <a:rPr lang="en-US" sz="2200"/>
              <a:t>Created through high cohesion and alignment radii and weight with 360 degree field of view</a:t>
            </a:r>
          </a:p>
          <a:p>
            <a:r>
              <a:rPr lang="en-US" sz="2200"/>
              <a:t>Inspired by birds flocking in a swarm</a:t>
            </a:r>
          </a:p>
        </p:txBody>
      </p:sp>
      <p:pic>
        <p:nvPicPr>
          <p:cNvPr id="8" name="Content Placeholder 7">
            <a:extLst>
              <a:ext uri="{FF2B5EF4-FFF2-40B4-BE49-F238E27FC236}">
                <a16:creationId xmlns:a16="http://schemas.microsoft.com/office/drawing/2014/main" id="{87754165-648B-8883-19BB-8C6CAB20323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03273" y="2386584"/>
            <a:ext cx="2729383" cy="4094075"/>
          </a:xfrm>
          <a:prstGeom prst="rect">
            <a:avLst/>
          </a:prstGeom>
        </p:spPr>
      </p:pic>
      <p:pic>
        <p:nvPicPr>
          <p:cNvPr id="9" name="Flock">
            <a:hlinkClick r:id="" action="ppaction://media"/>
            <a:extLst>
              <a:ext uri="{FF2B5EF4-FFF2-40B4-BE49-F238E27FC236}">
                <a16:creationId xmlns:a16="http://schemas.microsoft.com/office/drawing/2014/main" id="{6826E38F-E14B-26C4-A0BB-CAC63C9268D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35929" y="2721864"/>
            <a:ext cx="4905248" cy="3678936"/>
          </a:xfrm>
          <a:prstGeom prst="rect">
            <a:avLst/>
          </a:prstGeom>
        </p:spPr>
      </p:pic>
    </p:spTree>
    <p:extLst>
      <p:ext uri="{BB962C8B-B14F-4D97-AF65-F5344CB8AC3E}">
        <p14:creationId xmlns:p14="http://schemas.microsoft.com/office/powerpoint/2010/main" val="55811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016B9-EFD7-2C0A-65AA-F7E7AAED55A6}"/>
              </a:ext>
            </a:extLst>
          </p:cNvPr>
          <p:cNvSpPr>
            <a:spLocks noGrp="1"/>
          </p:cNvSpPr>
          <p:nvPr>
            <p:ph type="title"/>
          </p:nvPr>
        </p:nvSpPr>
        <p:spPr>
          <a:xfrm>
            <a:off x="630936" y="457200"/>
            <a:ext cx="4343400" cy="1929384"/>
          </a:xfrm>
        </p:spPr>
        <p:txBody>
          <a:bodyPr anchor="ctr">
            <a:normAutofit/>
          </a:bodyPr>
          <a:lstStyle/>
          <a:p>
            <a:r>
              <a:rPr lang="en-AU" sz="4800"/>
              <a:t>Line Study</a:t>
            </a:r>
          </a:p>
        </p:txBody>
      </p:sp>
      <p:sp>
        <p:nvSpPr>
          <p:cNvPr id="1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12">
            <a:extLst>
              <a:ext uri="{FF2B5EF4-FFF2-40B4-BE49-F238E27FC236}">
                <a16:creationId xmlns:a16="http://schemas.microsoft.com/office/drawing/2014/main" id="{67D465F1-B62F-423B-022B-34A6B4B318B3}"/>
              </a:ext>
            </a:extLst>
          </p:cNvPr>
          <p:cNvSpPr>
            <a:spLocks noGrp="1"/>
          </p:cNvSpPr>
          <p:nvPr>
            <p:ph idx="1"/>
          </p:nvPr>
        </p:nvSpPr>
        <p:spPr>
          <a:xfrm>
            <a:off x="5541263" y="457200"/>
            <a:ext cx="6007608" cy="1929384"/>
          </a:xfrm>
        </p:spPr>
        <p:txBody>
          <a:bodyPr anchor="ctr">
            <a:normAutofit/>
          </a:bodyPr>
          <a:lstStyle/>
          <a:p>
            <a:r>
              <a:rPr lang="en-US" sz="2200"/>
              <a:t>Created through high cohesion and alignment radii and weight with 180 degree field of view</a:t>
            </a:r>
          </a:p>
          <a:p>
            <a:r>
              <a:rPr lang="en-US" sz="2200"/>
              <a:t>Inspired by ants moving in a line</a:t>
            </a:r>
          </a:p>
        </p:txBody>
      </p:sp>
      <p:pic>
        <p:nvPicPr>
          <p:cNvPr id="8" name="Content Placeholder 7">
            <a:extLst>
              <a:ext uri="{FF2B5EF4-FFF2-40B4-BE49-F238E27FC236}">
                <a16:creationId xmlns:a16="http://schemas.microsoft.com/office/drawing/2014/main" id="{87754165-648B-8883-19BB-8C6CAB20323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03273" y="2386584"/>
            <a:ext cx="2729383" cy="4094075"/>
          </a:xfrm>
          <a:prstGeom prst="rect">
            <a:avLst/>
          </a:prstGeom>
        </p:spPr>
      </p:pic>
      <p:pic>
        <p:nvPicPr>
          <p:cNvPr id="5" name="Line">
            <a:hlinkClick r:id="" action="ppaction://media"/>
            <a:extLst>
              <a:ext uri="{FF2B5EF4-FFF2-40B4-BE49-F238E27FC236}">
                <a16:creationId xmlns:a16="http://schemas.microsoft.com/office/drawing/2014/main" id="{C8224BEE-BB15-973B-EF4E-74BCAFA1080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35929" y="2721600"/>
            <a:ext cx="4905600" cy="3679200"/>
          </a:xfrm>
          <a:prstGeom prst="rect">
            <a:avLst/>
          </a:prstGeom>
        </p:spPr>
      </p:pic>
    </p:spTree>
    <p:extLst>
      <p:ext uri="{BB962C8B-B14F-4D97-AF65-F5344CB8AC3E}">
        <p14:creationId xmlns:p14="http://schemas.microsoft.com/office/powerpoint/2010/main" val="16853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0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016B9-EFD7-2C0A-65AA-F7E7AAED55A6}"/>
              </a:ext>
            </a:extLst>
          </p:cNvPr>
          <p:cNvSpPr>
            <a:spLocks noGrp="1"/>
          </p:cNvSpPr>
          <p:nvPr>
            <p:ph type="title"/>
          </p:nvPr>
        </p:nvSpPr>
        <p:spPr>
          <a:xfrm>
            <a:off x="630936" y="457200"/>
            <a:ext cx="4343400" cy="1929384"/>
          </a:xfrm>
        </p:spPr>
        <p:txBody>
          <a:bodyPr anchor="ctr">
            <a:normAutofit/>
          </a:bodyPr>
          <a:lstStyle/>
          <a:p>
            <a:r>
              <a:rPr lang="en-AU" sz="4800"/>
              <a:t>Gravity Study</a:t>
            </a:r>
          </a:p>
        </p:txBody>
      </p:sp>
      <p:sp>
        <p:nvSpPr>
          <p:cNvPr id="1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12">
            <a:extLst>
              <a:ext uri="{FF2B5EF4-FFF2-40B4-BE49-F238E27FC236}">
                <a16:creationId xmlns:a16="http://schemas.microsoft.com/office/drawing/2014/main" id="{67D465F1-B62F-423B-022B-34A6B4B318B3}"/>
              </a:ext>
            </a:extLst>
          </p:cNvPr>
          <p:cNvSpPr>
            <a:spLocks noGrp="1"/>
          </p:cNvSpPr>
          <p:nvPr>
            <p:ph idx="1"/>
          </p:nvPr>
        </p:nvSpPr>
        <p:spPr>
          <a:xfrm>
            <a:off x="5541263" y="457200"/>
            <a:ext cx="6007608" cy="1929384"/>
          </a:xfrm>
        </p:spPr>
        <p:txBody>
          <a:bodyPr anchor="ctr">
            <a:normAutofit/>
          </a:bodyPr>
          <a:lstStyle/>
          <a:p>
            <a:r>
              <a:rPr lang="en-US" sz="2200"/>
              <a:t>Created through high cohesion and no alignment </a:t>
            </a:r>
          </a:p>
          <a:p>
            <a:r>
              <a:rPr lang="en-US" sz="2200"/>
              <a:t>Creates an orbiting pattern around a central point</a:t>
            </a:r>
          </a:p>
        </p:txBody>
      </p:sp>
      <p:pic>
        <p:nvPicPr>
          <p:cNvPr id="8" name="Content Placeholder 7">
            <a:extLst>
              <a:ext uri="{FF2B5EF4-FFF2-40B4-BE49-F238E27FC236}">
                <a16:creationId xmlns:a16="http://schemas.microsoft.com/office/drawing/2014/main" id="{87754165-648B-8883-19BB-8C6CAB20323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03273" y="2386584"/>
            <a:ext cx="2729383" cy="4094075"/>
          </a:xfrm>
          <a:prstGeom prst="rect">
            <a:avLst/>
          </a:prstGeom>
        </p:spPr>
      </p:pic>
      <p:pic>
        <p:nvPicPr>
          <p:cNvPr id="3" name="Gravity">
            <a:hlinkClick r:id="" action="ppaction://media"/>
            <a:extLst>
              <a:ext uri="{FF2B5EF4-FFF2-40B4-BE49-F238E27FC236}">
                <a16:creationId xmlns:a16="http://schemas.microsoft.com/office/drawing/2014/main" id="{EE6ED494-A920-7108-E3C3-EE102229E12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535929" y="2721600"/>
            <a:ext cx="4905600" cy="3679200"/>
          </a:xfrm>
          <a:prstGeom prst="rect">
            <a:avLst/>
          </a:prstGeom>
        </p:spPr>
      </p:pic>
    </p:spTree>
    <p:extLst>
      <p:ext uri="{BB962C8B-B14F-4D97-AF65-F5344CB8AC3E}">
        <p14:creationId xmlns:p14="http://schemas.microsoft.com/office/powerpoint/2010/main" val="20626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5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276D9-DB68-1EE6-34A3-7F2553F54E97}"/>
              </a:ext>
            </a:extLst>
          </p:cNvPr>
          <p:cNvSpPr>
            <a:spLocks noGrp="1"/>
          </p:cNvSpPr>
          <p:nvPr>
            <p:ph type="title"/>
          </p:nvPr>
        </p:nvSpPr>
        <p:spPr>
          <a:xfrm>
            <a:off x="640080" y="329184"/>
            <a:ext cx="6894576" cy="1783080"/>
          </a:xfrm>
        </p:spPr>
        <p:txBody>
          <a:bodyPr anchor="b">
            <a:normAutofit/>
          </a:bodyPr>
          <a:lstStyle/>
          <a:p>
            <a:r>
              <a:rPr lang="en-AU" sz="4800"/>
              <a:t>Results Summary</a:t>
            </a:r>
          </a:p>
        </p:txBody>
      </p:sp>
      <p:sp>
        <p:nvSpPr>
          <p:cNvPr id="2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11">
            <a:extLst>
              <a:ext uri="{FF2B5EF4-FFF2-40B4-BE49-F238E27FC236}">
                <a16:creationId xmlns:a16="http://schemas.microsoft.com/office/drawing/2014/main" id="{350A71FC-61DA-BF80-0053-C4D0C3F0CA99}"/>
              </a:ext>
            </a:extLst>
          </p:cNvPr>
          <p:cNvSpPr>
            <a:spLocks noGrp="1"/>
          </p:cNvSpPr>
          <p:nvPr>
            <p:ph idx="1"/>
          </p:nvPr>
        </p:nvSpPr>
        <p:spPr>
          <a:xfrm>
            <a:off x="640080" y="2706624"/>
            <a:ext cx="6894576" cy="3483864"/>
          </a:xfrm>
        </p:spPr>
        <p:txBody>
          <a:bodyPr>
            <a:normAutofit/>
          </a:bodyPr>
          <a:lstStyle/>
          <a:p>
            <a:r>
              <a:rPr lang="en-US" sz="2200"/>
              <a:t>Metrics of the studied behaviours showed significant statistical difference between emergent </a:t>
            </a:r>
            <a:r>
              <a:rPr lang="en-US" sz="2200" err="1"/>
              <a:t>behaviour</a:t>
            </a:r>
            <a:r>
              <a:rPr lang="en-US" sz="2200"/>
              <a:t> and random motion</a:t>
            </a:r>
          </a:p>
        </p:txBody>
      </p:sp>
      <p:pic>
        <p:nvPicPr>
          <p:cNvPr id="7" name="Picture 6">
            <a:extLst>
              <a:ext uri="{FF2B5EF4-FFF2-40B4-BE49-F238E27FC236}">
                <a16:creationId xmlns:a16="http://schemas.microsoft.com/office/drawing/2014/main" id="{F4AD7F6F-E97A-38E4-C106-E9FD53F762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23031" y="662678"/>
            <a:ext cx="3826423" cy="5532644"/>
          </a:xfrm>
          <a:prstGeom prst="rect">
            <a:avLst/>
          </a:prstGeom>
        </p:spPr>
      </p:pic>
      <p:pic>
        <p:nvPicPr>
          <p:cNvPr id="10" name="Picture 9">
            <a:extLst>
              <a:ext uri="{FF2B5EF4-FFF2-40B4-BE49-F238E27FC236}">
                <a16:creationId xmlns:a16="http://schemas.microsoft.com/office/drawing/2014/main" id="{A928CA55-D9B3-CDAC-5294-D6689438CDD4}"/>
              </a:ext>
            </a:extLst>
          </p:cNvPr>
          <p:cNvPicPr>
            <a:picLocks noChangeAspect="1"/>
          </p:cNvPicPr>
          <p:nvPr/>
        </p:nvPicPr>
        <p:blipFill>
          <a:blip r:embed="rId4"/>
          <a:stretch>
            <a:fillRect/>
          </a:stretch>
        </p:blipFill>
        <p:spPr>
          <a:xfrm>
            <a:off x="1608598" y="4173935"/>
            <a:ext cx="4957540" cy="1883865"/>
          </a:xfrm>
          <a:prstGeom prst="rect">
            <a:avLst/>
          </a:prstGeom>
        </p:spPr>
      </p:pic>
    </p:spTree>
    <p:extLst>
      <p:ext uri="{BB962C8B-B14F-4D97-AF65-F5344CB8AC3E}">
        <p14:creationId xmlns:p14="http://schemas.microsoft.com/office/powerpoint/2010/main" val="1429496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ECFB3D-3D9A-4BDF-4223-FD05B5339974}"/>
              </a:ext>
            </a:extLst>
          </p:cNvPr>
          <p:cNvSpPr>
            <a:spLocks noGrp="1"/>
          </p:cNvSpPr>
          <p:nvPr>
            <p:ph type="title"/>
          </p:nvPr>
        </p:nvSpPr>
        <p:spPr>
          <a:xfrm>
            <a:off x="838200" y="365125"/>
            <a:ext cx="10515600" cy="1325563"/>
          </a:xfrm>
        </p:spPr>
        <p:txBody>
          <a:bodyPr>
            <a:normAutofit/>
          </a:bodyPr>
          <a:lstStyle/>
          <a:p>
            <a:r>
              <a:rPr lang="en-AU" sz="5400"/>
              <a:t>Conclusion and Recommendations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A8EF9B-5B9B-EF1C-8614-99B3AD5B9933}"/>
              </a:ext>
            </a:extLst>
          </p:cNvPr>
          <p:cNvSpPr>
            <a:spLocks noGrp="1"/>
          </p:cNvSpPr>
          <p:nvPr>
            <p:ph idx="1"/>
          </p:nvPr>
        </p:nvSpPr>
        <p:spPr>
          <a:xfrm>
            <a:off x="838200" y="1929384"/>
            <a:ext cx="10515600" cy="4251960"/>
          </a:xfrm>
        </p:spPr>
        <p:txBody>
          <a:bodyPr>
            <a:normAutofit/>
          </a:bodyPr>
          <a:lstStyle/>
          <a:p>
            <a:r>
              <a:rPr lang="en-AU" sz="2200"/>
              <a:t>Heterogeneous swarming with BOLT and RVR was achieved with three emergent behaviours produced:</a:t>
            </a:r>
          </a:p>
          <a:p>
            <a:pPr lvl="1"/>
            <a:r>
              <a:rPr lang="en-AU" sz="2200"/>
              <a:t>Flocking</a:t>
            </a:r>
          </a:p>
          <a:p>
            <a:pPr lvl="1"/>
            <a:r>
              <a:rPr lang="en-AU" sz="2200"/>
              <a:t>Lines</a:t>
            </a:r>
          </a:p>
          <a:p>
            <a:pPr lvl="1"/>
            <a:r>
              <a:rPr lang="en-AU" sz="2200"/>
              <a:t>Gravity</a:t>
            </a:r>
          </a:p>
          <a:p>
            <a:r>
              <a:rPr lang="en-AU" sz="2200"/>
              <a:t>Future research could be: </a:t>
            </a:r>
          </a:p>
          <a:p>
            <a:pPr lvl="1"/>
            <a:r>
              <a:rPr lang="en-AU" sz="2200"/>
              <a:t>To experiment with asymmetric emergent behaviour</a:t>
            </a:r>
          </a:p>
          <a:p>
            <a:pPr lvl="1"/>
            <a:r>
              <a:rPr lang="en-AU" sz="2200"/>
              <a:t>To implement heterogeneous swarm in practical scenario</a:t>
            </a:r>
          </a:p>
        </p:txBody>
      </p:sp>
    </p:spTree>
    <p:extLst>
      <p:ext uri="{BB962C8B-B14F-4D97-AF65-F5344CB8AC3E}">
        <p14:creationId xmlns:p14="http://schemas.microsoft.com/office/powerpoint/2010/main" val="3300315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DDD7-DD0B-D341-B14E-BBC84BDCAD50}"/>
              </a:ext>
            </a:extLst>
          </p:cNvPr>
          <p:cNvSpPr>
            <a:spLocks noGrp="1"/>
          </p:cNvSpPr>
          <p:nvPr>
            <p:ph type="title"/>
          </p:nvPr>
        </p:nvSpPr>
        <p:spPr>
          <a:xfrm>
            <a:off x="838200" y="2766218"/>
            <a:ext cx="10515600" cy="1325563"/>
          </a:xfrm>
        </p:spPr>
        <p:txBody>
          <a:bodyPr/>
          <a:lstStyle/>
          <a:p>
            <a:pPr algn="ctr"/>
            <a:r>
              <a:rPr lang="en-AU"/>
              <a:t>Questions</a:t>
            </a:r>
          </a:p>
        </p:txBody>
      </p:sp>
    </p:spTree>
    <p:extLst>
      <p:ext uri="{BB962C8B-B14F-4D97-AF65-F5344CB8AC3E}">
        <p14:creationId xmlns:p14="http://schemas.microsoft.com/office/powerpoint/2010/main" val="97797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A8000C2-442A-4A7F-889C-BF8B82F729DD}">
  <we:reference id="6a7bd4f3-0563-43af-8c08-79110eebdff6" version="1.1.4.0" store="EXCatalog" storeType="EXCatalog"/>
  <we:alternateReferences>
    <we:reference id="WA104381155" version="1.1.4.0" store="en-AU"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b25d950-26f1-40d8-9c87-f828b6c1dbf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EF1960107CFA648ADF38FB6BFEB5AC7" ma:contentTypeVersion="12" ma:contentTypeDescription="Create a new document." ma:contentTypeScope="" ma:versionID="4278107c941c325cd597a72712f0665e">
  <xsd:schema xmlns:xsd="http://www.w3.org/2001/XMLSchema" xmlns:xs="http://www.w3.org/2001/XMLSchema" xmlns:p="http://schemas.microsoft.com/office/2006/metadata/properties" xmlns:ns3="4b25d950-26f1-40d8-9c87-f828b6c1dbf5" targetNamespace="http://schemas.microsoft.com/office/2006/metadata/properties" ma:root="true" ma:fieldsID="8b18a5e807204b880757364ef3462d00" ns3:_="">
    <xsd:import namespace="4b25d950-26f1-40d8-9c87-f828b6c1dbf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_activity" minOccurs="0"/>
                <xsd:element ref="ns3:MediaServiceDateTaken"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25d950-26f1-40d8-9c87-f828b6c1db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24B280-AC38-4707-A9AB-C56CF1D0497E}">
  <ds:schemaRefs>
    <ds:schemaRef ds:uri="http://purl.org/dc/elements/1.1/"/>
    <ds:schemaRef ds:uri="http://purl.org/dc/terms/"/>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4b25d950-26f1-40d8-9c87-f828b6c1dbf5"/>
    <ds:schemaRef ds:uri="http://www.w3.org/XML/1998/namespace"/>
    <ds:schemaRef ds:uri="http://purl.org/dc/dcmitype/"/>
  </ds:schemaRefs>
</ds:datastoreItem>
</file>

<file path=customXml/itemProps2.xml><?xml version="1.0" encoding="utf-8"?>
<ds:datastoreItem xmlns:ds="http://schemas.openxmlformats.org/officeDocument/2006/customXml" ds:itemID="{C2CF73C2-B3E6-43E9-ACD7-959F4C6E7CF9}">
  <ds:schemaRefs>
    <ds:schemaRef ds:uri="http://schemas.microsoft.com/sharepoint/v3/contenttype/forms"/>
  </ds:schemaRefs>
</ds:datastoreItem>
</file>

<file path=customXml/itemProps3.xml><?xml version="1.0" encoding="utf-8"?>
<ds:datastoreItem xmlns:ds="http://schemas.openxmlformats.org/officeDocument/2006/customXml" ds:itemID="{7F41097F-E8E3-4606-8CA8-36368509827C}">
  <ds:schemaRefs>
    <ds:schemaRef ds:uri="4b25d950-26f1-40d8-9c87-f828b6c1db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1652</Words>
  <Application>Microsoft Office PowerPoint</Application>
  <PresentationFormat>Widescreen</PresentationFormat>
  <Paragraphs>178</Paragraphs>
  <Slides>17</Slides>
  <Notes>17</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Cambria Math</vt:lpstr>
      <vt:lpstr>Office Theme</vt:lpstr>
      <vt:lpstr>Emergent Behaviours in Heterogeneous Boid Swarms of RVR and BOLT Robots</vt:lpstr>
      <vt:lpstr>Introduction</vt:lpstr>
      <vt:lpstr>Related Work</vt:lpstr>
      <vt:lpstr>Heterogeneous Swarm Design Methodology</vt:lpstr>
      <vt:lpstr>Materials</vt:lpstr>
      <vt:lpstr>Heterogeneous Swarming Framework</vt:lpstr>
      <vt:lpstr>Experimental Methodology</vt:lpstr>
      <vt:lpstr>Parameter Tuning</vt:lpstr>
      <vt:lpstr>Parameter Setup</vt:lpstr>
      <vt:lpstr>Results Analysis</vt:lpstr>
      <vt:lpstr>Random Study (control)</vt:lpstr>
      <vt:lpstr>Flocking Study</vt:lpstr>
      <vt:lpstr>Line Study</vt:lpstr>
      <vt:lpstr>Gravity Study</vt:lpstr>
      <vt:lpstr>Results Summary</vt:lpstr>
      <vt:lpstr>Conclusion and Recommendations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Nicholas Liu</dc:creator>
  <cp:lastModifiedBy>Nicholas Liu</cp:lastModifiedBy>
  <cp:revision>2</cp:revision>
  <dcterms:created xsi:type="dcterms:W3CDTF">2024-10-17T13:15:20Z</dcterms:created>
  <dcterms:modified xsi:type="dcterms:W3CDTF">2024-10-25T07:27:40Z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0x0101007EF1960107CFA648ADF38FB6BFEB5AC7</vt:lpwstr>
  </property>
</Properties>
</file>